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25"/>
  </p:notesMasterIdLst>
  <p:handoutMasterIdLst>
    <p:handoutMasterId r:id="rId26"/>
  </p:handoutMasterIdLst>
  <p:sldIdLst>
    <p:sldId id="256" r:id="rId5"/>
    <p:sldId id="292" r:id="rId6"/>
    <p:sldId id="264" r:id="rId7"/>
    <p:sldId id="297" r:id="rId8"/>
    <p:sldId id="298" r:id="rId9"/>
    <p:sldId id="299" r:id="rId10"/>
    <p:sldId id="293" r:id="rId11"/>
    <p:sldId id="300" r:id="rId12"/>
    <p:sldId id="301" r:id="rId13"/>
    <p:sldId id="302" r:id="rId14"/>
    <p:sldId id="304" r:id="rId15"/>
    <p:sldId id="305" r:id="rId16"/>
    <p:sldId id="306" r:id="rId17"/>
    <p:sldId id="307" r:id="rId18"/>
    <p:sldId id="308" r:id="rId19"/>
    <p:sldId id="309" r:id="rId20"/>
    <p:sldId id="310" r:id="rId21"/>
    <p:sldId id="311" r:id="rId22"/>
    <p:sldId id="312"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FA7"/>
    <a:srgbClr val="46535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howGuides="1">
      <p:cViewPr varScale="1">
        <p:scale>
          <a:sx n="80" d="100"/>
          <a:sy n="80" d="100"/>
        </p:scale>
        <p:origin x="555" y="42"/>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ata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5EE725-49C5-4243-8563-F8460B58DC1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16B1D76-62BB-42B8-A3AD-3CCAD06F67E5}">
      <dgm:prSet custT="1"/>
      <dgm:spPr/>
      <dgm:t>
        <a:bodyPr/>
        <a:lstStyle/>
        <a:p>
          <a:pPr>
            <a:lnSpc>
              <a:spcPct val="100000"/>
            </a:lnSpc>
          </a:pPr>
          <a:r>
            <a:rPr lang="en-US" sz="1500" dirty="0"/>
            <a:t>The concept of data privacy has evolved significantly over the past few decades. Early privacy laws, such as the Swedish Personal Data Act (1998:204), aimed to protect personal integrity by restricting the processing of personal data without consent. </a:t>
          </a:r>
        </a:p>
      </dgm:t>
    </dgm:pt>
    <dgm:pt modelId="{46A3E7EB-A49F-44F1-89FE-E3694FE8C707}" type="parTrans" cxnId="{C259B048-D073-4A9D-9B78-7096E76BB305}">
      <dgm:prSet/>
      <dgm:spPr/>
      <dgm:t>
        <a:bodyPr/>
        <a:lstStyle/>
        <a:p>
          <a:endParaRPr lang="en-US"/>
        </a:p>
      </dgm:t>
    </dgm:pt>
    <dgm:pt modelId="{E59CAB3A-DB30-49C9-B162-6F34BF8D0F11}" type="sibTrans" cxnId="{C259B048-D073-4A9D-9B78-7096E76BB305}">
      <dgm:prSet/>
      <dgm:spPr/>
      <dgm:t>
        <a:bodyPr/>
        <a:lstStyle/>
        <a:p>
          <a:endParaRPr lang="en-US"/>
        </a:p>
      </dgm:t>
    </dgm:pt>
    <dgm:pt modelId="{A01B9384-9346-4A22-8A53-49FE6ADBB2B7}">
      <dgm:prSet custT="1"/>
      <dgm:spPr/>
      <dgm:t>
        <a:bodyPr/>
        <a:lstStyle/>
        <a:p>
          <a:pPr>
            <a:lnSpc>
              <a:spcPct val="100000"/>
            </a:lnSpc>
          </a:pPr>
          <a:r>
            <a:rPr lang="en-US" sz="1500" dirty="0"/>
            <a:t>However, the rapid digitalization of society brought new challenges, as companies increasingly collected vast amounts of data for marketing and analytics purposes. This led to the introduction of the General Data Protection Regulation (GDPR) in 2018, which replaced the earlier Swedish law and established a comprehensive framework for data protection across the European Union. </a:t>
          </a:r>
        </a:p>
      </dgm:t>
    </dgm:pt>
    <dgm:pt modelId="{BF059D18-5CBA-43DF-B03F-E65BB07E8F3C}" type="parTrans" cxnId="{36702216-DA52-4210-97F5-D40A14A343C9}">
      <dgm:prSet/>
      <dgm:spPr/>
      <dgm:t>
        <a:bodyPr/>
        <a:lstStyle/>
        <a:p>
          <a:endParaRPr lang="en-US"/>
        </a:p>
      </dgm:t>
    </dgm:pt>
    <dgm:pt modelId="{CF8C4252-859D-43E6-971F-1AE8EE6E2DE7}" type="sibTrans" cxnId="{36702216-DA52-4210-97F5-D40A14A343C9}">
      <dgm:prSet/>
      <dgm:spPr/>
      <dgm:t>
        <a:bodyPr/>
        <a:lstStyle/>
        <a:p>
          <a:endParaRPr lang="en-US"/>
        </a:p>
      </dgm:t>
    </dgm:pt>
    <dgm:pt modelId="{9C8C3049-D666-44BD-B41D-2D5A86C8310F}">
      <dgm:prSet custT="1"/>
      <dgm:spPr/>
      <dgm:t>
        <a:bodyPr/>
        <a:lstStyle/>
        <a:p>
          <a:pPr>
            <a:lnSpc>
              <a:spcPct val="100000"/>
            </a:lnSpc>
          </a:pPr>
          <a:r>
            <a:rPr lang="en-US" sz="1500" dirty="0"/>
            <a:t>GDPR was designed to give users more control over their personal data, requiring companies to obtain explicit consent before collecting, storing, or processing this data. It also introduced strict requirements for transparency, data minimization, and user rights, including the right to access, correct, and delete personal data. </a:t>
          </a:r>
        </a:p>
      </dgm:t>
    </dgm:pt>
    <dgm:pt modelId="{0B77A6DE-FD4B-4EAD-A390-4498976275DA}" type="parTrans" cxnId="{977DA2CF-464A-4F99-A7D7-30BEC9E45F10}">
      <dgm:prSet/>
      <dgm:spPr/>
      <dgm:t>
        <a:bodyPr/>
        <a:lstStyle/>
        <a:p>
          <a:endParaRPr lang="en-US"/>
        </a:p>
      </dgm:t>
    </dgm:pt>
    <dgm:pt modelId="{A818C726-E6C5-4226-AFB9-ACE832975F03}" type="sibTrans" cxnId="{977DA2CF-464A-4F99-A7D7-30BEC9E45F10}">
      <dgm:prSet/>
      <dgm:spPr/>
      <dgm:t>
        <a:bodyPr/>
        <a:lstStyle/>
        <a:p>
          <a:endParaRPr lang="en-US"/>
        </a:p>
      </dgm:t>
    </dgm:pt>
    <dgm:pt modelId="{961450F1-8537-45B3-9FDF-69AB9295320A}">
      <dgm:prSet custT="1"/>
      <dgm:spPr/>
      <dgm:t>
        <a:bodyPr/>
        <a:lstStyle/>
        <a:p>
          <a:pPr>
            <a:lnSpc>
              <a:spcPct val="100000"/>
            </a:lnSpc>
          </a:pPr>
          <a:r>
            <a:rPr lang="en-US" sz="1500" dirty="0"/>
            <a:t>Despite these advancements, the digital landscape continues to evolve, creating new privacy risks and challenges, particularly with the rise of machine learning and AI technologies. </a:t>
          </a:r>
        </a:p>
      </dgm:t>
    </dgm:pt>
    <dgm:pt modelId="{8E11DDC9-A4AF-4A59-923D-97023E198699}" type="parTrans" cxnId="{8458C9D1-2FE0-40B4-AB94-459725A35F26}">
      <dgm:prSet/>
      <dgm:spPr/>
      <dgm:t>
        <a:bodyPr/>
        <a:lstStyle/>
        <a:p>
          <a:endParaRPr lang="en-US"/>
        </a:p>
      </dgm:t>
    </dgm:pt>
    <dgm:pt modelId="{348E0CE8-8622-42A9-A400-B0200DDBD554}" type="sibTrans" cxnId="{8458C9D1-2FE0-40B4-AB94-459725A35F26}">
      <dgm:prSet/>
      <dgm:spPr/>
      <dgm:t>
        <a:bodyPr/>
        <a:lstStyle/>
        <a:p>
          <a:endParaRPr lang="en-US"/>
        </a:p>
      </dgm:t>
    </dgm:pt>
    <dgm:pt modelId="{A0B012F1-78D3-4211-826E-E2E741C9F1FF}">
      <dgm:prSet custT="1"/>
      <dgm:spPr/>
      <dgm:t>
        <a:bodyPr/>
        <a:lstStyle/>
        <a:p>
          <a:pPr>
            <a:lnSpc>
              <a:spcPct val="100000"/>
            </a:lnSpc>
          </a:pPr>
          <a:r>
            <a:rPr lang="en-US" sz="1500" dirty="0"/>
            <a:t>This project seeks to address these emerging concerns by developing machine learning models that prioritize privacy, ensuring that user data is protected in an increasingly interconnected world.</a:t>
          </a:r>
        </a:p>
      </dgm:t>
    </dgm:pt>
    <dgm:pt modelId="{D4FB2C7C-454F-410C-A98B-7A85F821C280}" type="parTrans" cxnId="{DA068DFA-8818-49E1-88F8-F75F60A09F2A}">
      <dgm:prSet/>
      <dgm:spPr/>
      <dgm:t>
        <a:bodyPr/>
        <a:lstStyle/>
        <a:p>
          <a:endParaRPr lang="en-US"/>
        </a:p>
      </dgm:t>
    </dgm:pt>
    <dgm:pt modelId="{455E2C10-714F-4173-9017-FF486850DA31}" type="sibTrans" cxnId="{DA068DFA-8818-49E1-88F8-F75F60A09F2A}">
      <dgm:prSet/>
      <dgm:spPr/>
      <dgm:t>
        <a:bodyPr/>
        <a:lstStyle/>
        <a:p>
          <a:endParaRPr lang="en-US"/>
        </a:p>
      </dgm:t>
    </dgm:pt>
    <dgm:pt modelId="{D977E001-46EB-4DA2-9CDB-45912410B27E}" type="pres">
      <dgm:prSet presAssocID="{B85EE725-49C5-4243-8563-F8460B58DC11}" presName="root" presStyleCnt="0">
        <dgm:presLayoutVars>
          <dgm:dir/>
          <dgm:resizeHandles val="exact"/>
        </dgm:presLayoutVars>
      </dgm:prSet>
      <dgm:spPr/>
    </dgm:pt>
    <dgm:pt modelId="{6C5009C2-22CB-46DA-8676-05A14A9AB55E}" type="pres">
      <dgm:prSet presAssocID="{316B1D76-62BB-42B8-A3AD-3CCAD06F67E5}" presName="compNode" presStyleCnt="0"/>
      <dgm:spPr/>
    </dgm:pt>
    <dgm:pt modelId="{9D287C85-88D4-4151-8301-B57120B0FCC2}" type="pres">
      <dgm:prSet presAssocID="{316B1D76-62BB-42B8-A3AD-3CCAD06F67E5}" presName="bgRect" presStyleLbl="bgShp" presStyleIdx="0" presStyleCnt="5"/>
      <dgm:spPr/>
    </dgm:pt>
    <dgm:pt modelId="{7CEA4FD7-CB7B-43CB-8347-8921912F6DC8}" type="pres">
      <dgm:prSet presAssocID="{316B1D76-62BB-42B8-A3AD-3CCAD06F67E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avel"/>
        </a:ext>
      </dgm:extLst>
    </dgm:pt>
    <dgm:pt modelId="{EC3AC473-69C5-402E-A066-67C8EA95A814}" type="pres">
      <dgm:prSet presAssocID="{316B1D76-62BB-42B8-A3AD-3CCAD06F67E5}" presName="spaceRect" presStyleCnt="0"/>
      <dgm:spPr/>
    </dgm:pt>
    <dgm:pt modelId="{C7D6AD12-7764-421F-9B7E-3B9335026F92}" type="pres">
      <dgm:prSet presAssocID="{316B1D76-62BB-42B8-A3AD-3CCAD06F67E5}" presName="parTx" presStyleLbl="revTx" presStyleIdx="0" presStyleCnt="5">
        <dgm:presLayoutVars>
          <dgm:chMax val="0"/>
          <dgm:chPref val="0"/>
        </dgm:presLayoutVars>
      </dgm:prSet>
      <dgm:spPr/>
    </dgm:pt>
    <dgm:pt modelId="{58FE9646-6C59-4540-867B-06D6A56881CB}" type="pres">
      <dgm:prSet presAssocID="{E59CAB3A-DB30-49C9-B162-6F34BF8D0F11}" presName="sibTrans" presStyleCnt="0"/>
      <dgm:spPr/>
    </dgm:pt>
    <dgm:pt modelId="{BD5A968D-085A-486F-8AF5-330D977DC997}" type="pres">
      <dgm:prSet presAssocID="{A01B9384-9346-4A22-8A53-49FE6ADBB2B7}" presName="compNode" presStyleCnt="0"/>
      <dgm:spPr/>
    </dgm:pt>
    <dgm:pt modelId="{673B6373-1EA1-4157-A5BD-87806CE6725B}" type="pres">
      <dgm:prSet presAssocID="{A01B9384-9346-4A22-8A53-49FE6ADBB2B7}" presName="bgRect" presStyleLbl="bgShp" presStyleIdx="1" presStyleCnt="5"/>
      <dgm:spPr/>
    </dgm:pt>
    <dgm:pt modelId="{7B575039-390A-4BDB-A3C6-FA7C03AC8055}" type="pres">
      <dgm:prSet presAssocID="{A01B9384-9346-4A22-8A53-49FE6ADBB2B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B9C28EBE-124E-4369-90EE-34E0449F70F2}" type="pres">
      <dgm:prSet presAssocID="{A01B9384-9346-4A22-8A53-49FE6ADBB2B7}" presName="spaceRect" presStyleCnt="0"/>
      <dgm:spPr/>
    </dgm:pt>
    <dgm:pt modelId="{FBE242E8-27EE-4F2A-B529-4FA2FEDE73BF}" type="pres">
      <dgm:prSet presAssocID="{A01B9384-9346-4A22-8A53-49FE6ADBB2B7}" presName="parTx" presStyleLbl="revTx" presStyleIdx="1" presStyleCnt="5">
        <dgm:presLayoutVars>
          <dgm:chMax val="0"/>
          <dgm:chPref val="0"/>
        </dgm:presLayoutVars>
      </dgm:prSet>
      <dgm:spPr/>
    </dgm:pt>
    <dgm:pt modelId="{E2B64C65-0297-4218-BEDD-F5BA9CD9BC23}" type="pres">
      <dgm:prSet presAssocID="{CF8C4252-859D-43E6-971F-1AE8EE6E2DE7}" presName="sibTrans" presStyleCnt="0"/>
      <dgm:spPr/>
    </dgm:pt>
    <dgm:pt modelId="{DB39906F-BE72-4DF5-A597-1247B54855D9}" type="pres">
      <dgm:prSet presAssocID="{9C8C3049-D666-44BD-B41D-2D5A86C8310F}" presName="compNode" presStyleCnt="0"/>
      <dgm:spPr/>
    </dgm:pt>
    <dgm:pt modelId="{B1C23859-CCFF-4A32-9BBF-5B5940A7D881}" type="pres">
      <dgm:prSet presAssocID="{9C8C3049-D666-44BD-B41D-2D5A86C8310F}" presName="bgRect" presStyleLbl="bgShp" presStyleIdx="2" presStyleCnt="5"/>
      <dgm:spPr/>
    </dgm:pt>
    <dgm:pt modelId="{E051ADAD-403F-4D16-B483-3BBE4948FD89}" type="pres">
      <dgm:prSet presAssocID="{9C8C3049-D666-44BD-B41D-2D5A86C8310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nk"/>
        </a:ext>
      </dgm:extLst>
    </dgm:pt>
    <dgm:pt modelId="{E2A21D3F-1D75-449E-AAFE-B7FB85B90910}" type="pres">
      <dgm:prSet presAssocID="{9C8C3049-D666-44BD-B41D-2D5A86C8310F}" presName="spaceRect" presStyleCnt="0"/>
      <dgm:spPr/>
    </dgm:pt>
    <dgm:pt modelId="{5BF04AAE-2EBB-4E03-A805-FB5E077092E1}" type="pres">
      <dgm:prSet presAssocID="{9C8C3049-D666-44BD-B41D-2D5A86C8310F}" presName="parTx" presStyleLbl="revTx" presStyleIdx="2" presStyleCnt="5">
        <dgm:presLayoutVars>
          <dgm:chMax val="0"/>
          <dgm:chPref val="0"/>
        </dgm:presLayoutVars>
      </dgm:prSet>
      <dgm:spPr/>
    </dgm:pt>
    <dgm:pt modelId="{C97F6C96-5C8F-4DD1-8037-50B1B7B2ED13}" type="pres">
      <dgm:prSet presAssocID="{A818C726-E6C5-4226-AFB9-ACE832975F03}" presName="sibTrans" presStyleCnt="0"/>
      <dgm:spPr/>
    </dgm:pt>
    <dgm:pt modelId="{4317170D-FFA4-4492-9211-9F5C45C5F043}" type="pres">
      <dgm:prSet presAssocID="{961450F1-8537-45B3-9FDF-69AB9295320A}" presName="compNode" presStyleCnt="0"/>
      <dgm:spPr/>
    </dgm:pt>
    <dgm:pt modelId="{5E06B5D2-1C72-4387-9BD3-86045B23B3DC}" type="pres">
      <dgm:prSet presAssocID="{961450F1-8537-45B3-9FDF-69AB9295320A}" presName="bgRect" presStyleLbl="bgShp" presStyleIdx="3" presStyleCnt="5"/>
      <dgm:spPr/>
    </dgm:pt>
    <dgm:pt modelId="{8DF23ACA-D466-4B88-A800-2CCF3EF9B0F6}" type="pres">
      <dgm:prSet presAssocID="{961450F1-8537-45B3-9FDF-69AB9295320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loud Computing"/>
        </a:ext>
      </dgm:extLst>
    </dgm:pt>
    <dgm:pt modelId="{7594C0E2-333C-46A5-9036-CF92FC2C7543}" type="pres">
      <dgm:prSet presAssocID="{961450F1-8537-45B3-9FDF-69AB9295320A}" presName="spaceRect" presStyleCnt="0"/>
      <dgm:spPr/>
    </dgm:pt>
    <dgm:pt modelId="{8915511E-2841-4D89-B7AB-AE0876A3B5DC}" type="pres">
      <dgm:prSet presAssocID="{961450F1-8537-45B3-9FDF-69AB9295320A}" presName="parTx" presStyleLbl="revTx" presStyleIdx="3" presStyleCnt="5">
        <dgm:presLayoutVars>
          <dgm:chMax val="0"/>
          <dgm:chPref val="0"/>
        </dgm:presLayoutVars>
      </dgm:prSet>
      <dgm:spPr/>
    </dgm:pt>
    <dgm:pt modelId="{1CF7EED4-4E56-4836-84E0-064469B53382}" type="pres">
      <dgm:prSet presAssocID="{348E0CE8-8622-42A9-A400-B0200DDBD554}" presName="sibTrans" presStyleCnt="0"/>
      <dgm:spPr/>
    </dgm:pt>
    <dgm:pt modelId="{35DCD6BA-D3BC-4153-AD03-6394AA79E1CC}" type="pres">
      <dgm:prSet presAssocID="{A0B012F1-78D3-4211-826E-E2E741C9F1FF}" presName="compNode" presStyleCnt="0"/>
      <dgm:spPr/>
    </dgm:pt>
    <dgm:pt modelId="{6F7C4F2E-11BC-4973-86AC-A055031154AE}" type="pres">
      <dgm:prSet presAssocID="{A0B012F1-78D3-4211-826E-E2E741C9F1FF}" presName="bgRect" presStyleLbl="bgShp" presStyleIdx="4" presStyleCnt="5"/>
      <dgm:spPr/>
    </dgm:pt>
    <dgm:pt modelId="{3AB0A306-C049-4D0B-9251-9B9356DF4992}" type="pres">
      <dgm:prSet presAssocID="{A0B012F1-78D3-4211-826E-E2E741C9F1F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rocessor"/>
        </a:ext>
      </dgm:extLst>
    </dgm:pt>
    <dgm:pt modelId="{0E9731E9-5051-4EE4-BD92-3EDE672A3C92}" type="pres">
      <dgm:prSet presAssocID="{A0B012F1-78D3-4211-826E-E2E741C9F1FF}" presName="spaceRect" presStyleCnt="0"/>
      <dgm:spPr/>
    </dgm:pt>
    <dgm:pt modelId="{2EB27B1F-006A-4E92-A1F9-A7F1DE491000}" type="pres">
      <dgm:prSet presAssocID="{A0B012F1-78D3-4211-826E-E2E741C9F1FF}" presName="parTx" presStyleLbl="revTx" presStyleIdx="4" presStyleCnt="5">
        <dgm:presLayoutVars>
          <dgm:chMax val="0"/>
          <dgm:chPref val="0"/>
        </dgm:presLayoutVars>
      </dgm:prSet>
      <dgm:spPr/>
    </dgm:pt>
  </dgm:ptLst>
  <dgm:cxnLst>
    <dgm:cxn modelId="{36702216-DA52-4210-97F5-D40A14A343C9}" srcId="{B85EE725-49C5-4243-8563-F8460B58DC11}" destId="{A01B9384-9346-4A22-8A53-49FE6ADBB2B7}" srcOrd="1" destOrd="0" parTransId="{BF059D18-5CBA-43DF-B03F-E65BB07E8F3C}" sibTransId="{CF8C4252-859D-43E6-971F-1AE8EE6E2DE7}"/>
    <dgm:cxn modelId="{8C30F931-C431-43B8-9487-31957AF1DAFA}" type="presOf" srcId="{A01B9384-9346-4A22-8A53-49FE6ADBB2B7}" destId="{FBE242E8-27EE-4F2A-B529-4FA2FEDE73BF}" srcOrd="0" destOrd="0" presId="urn:microsoft.com/office/officeart/2018/2/layout/IconVerticalSolidList"/>
    <dgm:cxn modelId="{BC76BD44-F768-4FAF-BD26-D9871A563408}" type="presOf" srcId="{961450F1-8537-45B3-9FDF-69AB9295320A}" destId="{8915511E-2841-4D89-B7AB-AE0876A3B5DC}" srcOrd="0" destOrd="0" presId="urn:microsoft.com/office/officeart/2018/2/layout/IconVerticalSolidList"/>
    <dgm:cxn modelId="{C259B048-D073-4A9D-9B78-7096E76BB305}" srcId="{B85EE725-49C5-4243-8563-F8460B58DC11}" destId="{316B1D76-62BB-42B8-A3AD-3CCAD06F67E5}" srcOrd="0" destOrd="0" parTransId="{46A3E7EB-A49F-44F1-89FE-E3694FE8C707}" sibTransId="{E59CAB3A-DB30-49C9-B162-6F34BF8D0F11}"/>
    <dgm:cxn modelId="{CEA7984C-DC4B-4827-A0A3-63E8206A3594}" type="presOf" srcId="{A0B012F1-78D3-4211-826E-E2E741C9F1FF}" destId="{2EB27B1F-006A-4E92-A1F9-A7F1DE491000}" srcOrd="0" destOrd="0" presId="urn:microsoft.com/office/officeart/2018/2/layout/IconVerticalSolidList"/>
    <dgm:cxn modelId="{41F2D375-2E2E-4776-A4F5-AF633C72AF73}" type="presOf" srcId="{B85EE725-49C5-4243-8563-F8460B58DC11}" destId="{D977E001-46EB-4DA2-9CDB-45912410B27E}" srcOrd="0" destOrd="0" presId="urn:microsoft.com/office/officeart/2018/2/layout/IconVerticalSolidList"/>
    <dgm:cxn modelId="{30BCDF77-EC85-4D19-B6EA-6956FF65D68B}" type="presOf" srcId="{9C8C3049-D666-44BD-B41D-2D5A86C8310F}" destId="{5BF04AAE-2EBB-4E03-A805-FB5E077092E1}" srcOrd="0" destOrd="0" presId="urn:microsoft.com/office/officeart/2018/2/layout/IconVerticalSolidList"/>
    <dgm:cxn modelId="{3A3EF08B-B177-4274-986D-C35EB816B535}" type="presOf" srcId="{316B1D76-62BB-42B8-A3AD-3CCAD06F67E5}" destId="{C7D6AD12-7764-421F-9B7E-3B9335026F92}" srcOrd="0" destOrd="0" presId="urn:microsoft.com/office/officeart/2018/2/layout/IconVerticalSolidList"/>
    <dgm:cxn modelId="{977DA2CF-464A-4F99-A7D7-30BEC9E45F10}" srcId="{B85EE725-49C5-4243-8563-F8460B58DC11}" destId="{9C8C3049-D666-44BD-B41D-2D5A86C8310F}" srcOrd="2" destOrd="0" parTransId="{0B77A6DE-FD4B-4EAD-A390-4498976275DA}" sibTransId="{A818C726-E6C5-4226-AFB9-ACE832975F03}"/>
    <dgm:cxn modelId="{8458C9D1-2FE0-40B4-AB94-459725A35F26}" srcId="{B85EE725-49C5-4243-8563-F8460B58DC11}" destId="{961450F1-8537-45B3-9FDF-69AB9295320A}" srcOrd="3" destOrd="0" parTransId="{8E11DDC9-A4AF-4A59-923D-97023E198699}" sibTransId="{348E0CE8-8622-42A9-A400-B0200DDBD554}"/>
    <dgm:cxn modelId="{DA068DFA-8818-49E1-88F8-F75F60A09F2A}" srcId="{B85EE725-49C5-4243-8563-F8460B58DC11}" destId="{A0B012F1-78D3-4211-826E-E2E741C9F1FF}" srcOrd="4" destOrd="0" parTransId="{D4FB2C7C-454F-410C-A98B-7A85F821C280}" sibTransId="{455E2C10-714F-4173-9017-FF486850DA31}"/>
    <dgm:cxn modelId="{3C03D133-BBC7-4B24-B1E6-6D0577CD8A45}" type="presParOf" srcId="{D977E001-46EB-4DA2-9CDB-45912410B27E}" destId="{6C5009C2-22CB-46DA-8676-05A14A9AB55E}" srcOrd="0" destOrd="0" presId="urn:microsoft.com/office/officeart/2018/2/layout/IconVerticalSolidList"/>
    <dgm:cxn modelId="{EBA4B0BC-6BDD-44EF-AC52-1249AC936BA5}" type="presParOf" srcId="{6C5009C2-22CB-46DA-8676-05A14A9AB55E}" destId="{9D287C85-88D4-4151-8301-B57120B0FCC2}" srcOrd="0" destOrd="0" presId="urn:microsoft.com/office/officeart/2018/2/layout/IconVerticalSolidList"/>
    <dgm:cxn modelId="{14F982DE-B767-4E4A-98C5-3482CC61AEFE}" type="presParOf" srcId="{6C5009C2-22CB-46DA-8676-05A14A9AB55E}" destId="{7CEA4FD7-CB7B-43CB-8347-8921912F6DC8}" srcOrd="1" destOrd="0" presId="urn:microsoft.com/office/officeart/2018/2/layout/IconVerticalSolidList"/>
    <dgm:cxn modelId="{E0EDD416-69A9-4CFA-BAFB-6944FC5FF330}" type="presParOf" srcId="{6C5009C2-22CB-46DA-8676-05A14A9AB55E}" destId="{EC3AC473-69C5-402E-A066-67C8EA95A814}" srcOrd="2" destOrd="0" presId="urn:microsoft.com/office/officeart/2018/2/layout/IconVerticalSolidList"/>
    <dgm:cxn modelId="{A9D77EA0-8C6B-47CF-B527-13945ADDB51E}" type="presParOf" srcId="{6C5009C2-22CB-46DA-8676-05A14A9AB55E}" destId="{C7D6AD12-7764-421F-9B7E-3B9335026F92}" srcOrd="3" destOrd="0" presId="urn:microsoft.com/office/officeart/2018/2/layout/IconVerticalSolidList"/>
    <dgm:cxn modelId="{DBC8A787-54D9-4717-83FC-7C1ED10ACDBD}" type="presParOf" srcId="{D977E001-46EB-4DA2-9CDB-45912410B27E}" destId="{58FE9646-6C59-4540-867B-06D6A56881CB}" srcOrd="1" destOrd="0" presId="urn:microsoft.com/office/officeart/2018/2/layout/IconVerticalSolidList"/>
    <dgm:cxn modelId="{3A6587E9-F238-434A-A872-A7ED2F8E9FB5}" type="presParOf" srcId="{D977E001-46EB-4DA2-9CDB-45912410B27E}" destId="{BD5A968D-085A-486F-8AF5-330D977DC997}" srcOrd="2" destOrd="0" presId="urn:microsoft.com/office/officeart/2018/2/layout/IconVerticalSolidList"/>
    <dgm:cxn modelId="{D227E7FA-46F3-442D-A944-0BC4A4F5172C}" type="presParOf" srcId="{BD5A968D-085A-486F-8AF5-330D977DC997}" destId="{673B6373-1EA1-4157-A5BD-87806CE6725B}" srcOrd="0" destOrd="0" presId="urn:microsoft.com/office/officeart/2018/2/layout/IconVerticalSolidList"/>
    <dgm:cxn modelId="{3957815D-3888-47FC-8435-7E281C7FAD92}" type="presParOf" srcId="{BD5A968D-085A-486F-8AF5-330D977DC997}" destId="{7B575039-390A-4BDB-A3C6-FA7C03AC8055}" srcOrd="1" destOrd="0" presId="urn:microsoft.com/office/officeart/2018/2/layout/IconVerticalSolidList"/>
    <dgm:cxn modelId="{94EF4034-2074-4CA6-BE30-D3C41C272EA2}" type="presParOf" srcId="{BD5A968D-085A-486F-8AF5-330D977DC997}" destId="{B9C28EBE-124E-4369-90EE-34E0449F70F2}" srcOrd="2" destOrd="0" presId="urn:microsoft.com/office/officeart/2018/2/layout/IconVerticalSolidList"/>
    <dgm:cxn modelId="{710CFFF2-F725-401E-A33D-2AC53BEF084E}" type="presParOf" srcId="{BD5A968D-085A-486F-8AF5-330D977DC997}" destId="{FBE242E8-27EE-4F2A-B529-4FA2FEDE73BF}" srcOrd="3" destOrd="0" presId="urn:microsoft.com/office/officeart/2018/2/layout/IconVerticalSolidList"/>
    <dgm:cxn modelId="{70CE44D6-34A4-4563-A1DA-B8825B66AF41}" type="presParOf" srcId="{D977E001-46EB-4DA2-9CDB-45912410B27E}" destId="{E2B64C65-0297-4218-BEDD-F5BA9CD9BC23}" srcOrd="3" destOrd="0" presId="urn:microsoft.com/office/officeart/2018/2/layout/IconVerticalSolidList"/>
    <dgm:cxn modelId="{769BF4C4-F90F-4F40-87CC-B4CEAD68CD8A}" type="presParOf" srcId="{D977E001-46EB-4DA2-9CDB-45912410B27E}" destId="{DB39906F-BE72-4DF5-A597-1247B54855D9}" srcOrd="4" destOrd="0" presId="urn:microsoft.com/office/officeart/2018/2/layout/IconVerticalSolidList"/>
    <dgm:cxn modelId="{4955B886-760D-4F10-A744-8DC1E5A10E22}" type="presParOf" srcId="{DB39906F-BE72-4DF5-A597-1247B54855D9}" destId="{B1C23859-CCFF-4A32-9BBF-5B5940A7D881}" srcOrd="0" destOrd="0" presId="urn:microsoft.com/office/officeart/2018/2/layout/IconVerticalSolidList"/>
    <dgm:cxn modelId="{51ED332A-33EB-4CF6-BC82-097E311274C7}" type="presParOf" srcId="{DB39906F-BE72-4DF5-A597-1247B54855D9}" destId="{E051ADAD-403F-4D16-B483-3BBE4948FD89}" srcOrd="1" destOrd="0" presId="urn:microsoft.com/office/officeart/2018/2/layout/IconVerticalSolidList"/>
    <dgm:cxn modelId="{1FD55616-59C2-4AD3-8ABF-9E896DE82E6F}" type="presParOf" srcId="{DB39906F-BE72-4DF5-A597-1247B54855D9}" destId="{E2A21D3F-1D75-449E-AAFE-B7FB85B90910}" srcOrd="2" destOrd="0" presId="urn:microsoft.com/office/officeart/2018/2/layout/IconVerticalSolidList"/>
    <dgm:cxn modelId="{EF2554A5-26BE-4F3B-800A-9A382DA9F136}" type="presParOf" srcId="{DB39906F-BE72-4DF5-A597-1247B54855D9}" destId="{5BF04AAE-2EBB-4E03-A805-FB5E077092E1}" srcOrd="3" destOrd="0" presId="urn:microsoft.com/office/officeart/2018/2/layout/IconVerticalSolidList"/>
    <dgm:cxn modelId="{6DD74BB5-7319-4998-9462-234076AB3DFB}" type="presParOf" srcId="{D977E001-46EB-4DA2-9CDB-45912410B27E}" destId="{C97F6C96-5C8F-4DD1-8037-50B1B7B2ED13}" srcOrd="5" destOrd="0" presId="urn:microsoft.com/office/officeart/2018/2/layout/IconVerticalSolidList"/>
    <dgm:cxn modelId="{7C3D8268-FDE6-45A9-AF21-7D4ED05CD954}" type="presParOf" srcId="{D977E001-46EB-4DA2-9CDB-45912410B27E}" destId="{4317170D-FFA4-4492-9211-9F5C45C5F043}" srcOrd="6" destOrd="0" presId="urn:microsoft.com/office/officeart/2018/2/layout/IconVerticalSolidList"/>
    <dgm:cxn modelId="{AB1B7DB0-7ED0-44ED-A90C-497FEE287008}" type="presParOf" srcId="{4317170D-FFA4-4492-9211-9F5C45C5F043}" destId="{5E06B5D2-1C72-4387-9BD3-86045B23B3DC}" srcOrd="0" destOrd="0" presId="urn:microsoft.com/office/officeart/2018/2/layout/IconVerticalSolidList"/>
    <dgm:cxn modelId="{430C0247-3D1F-4292-8292-2205CB57458C}" type="presParOf" srcId="{4317170D-FFA4-4492-9211-9F5C45C5F043}" destId="{8DF23ACA-D466-4B88-A800-2CCF3EF9B0F6}" srcOrd="1" destOrd="0" presId="urn:microsoft.com/office/officeart/2018/2/layout/IconVerticalSolidList"/>
    <dgm:cxn modelId="{AE55FD21-D496-42C3-BECA-D06DB4BA9A95}" type="presParOf" srcId="{4317170D-FFA4-4492-9211-9F5C45C5F043}" destId="{7594C0E2-333C-46A5-9036-CF92FC2C7543}" srcOrd="2" destOrd="0" presId="urn:microsoft.com/office/officeart/2018/2/layout/IconVerticalSolidList"/>
    <dgm:cxn modelId="{52066C8F-1216-4E02-97B9-39DEC6ED7881}" type="presParOf" srcId="{4317170D-FFA4-4492-9211-9F5C45C5F043}" destId="{8915511E-2841-4D89-B7AB-AE0876A3B5DC}" srcOrd="3" destOrd="0" presId="urn:microsoft.com/office/officeart/2018/2/layout/IconVerticalSolidList"/>
    <dgm:cxn modelId="{2BDC3A6D-FD6B-46F9-8D8D-2F4D7E5CC267}" type="presParOf" srcId="{D977E001-46EB-4DA2-9CDB-45912410B27E}" destId="{1CF7EED4-4E56-4836-84E0-064469B53382}" srcOrd="7" destOrd="0" presId="urn:microsoft.com/office/officeart/2018/2/layout/IconVerticalSolidList"/>
    <dgm:cxn modelId="{090FBDBB-E8CD-423B-9256-AC29FC07C673}" type="presParOf" srcId="{D977E001-46EB-4DA2-9CDB-45912410B27E}" destId="{35DCD6BA-D3BC-4153-AD03-6394AA79E1CC}" srcOrd="8" destOrd="0" presId="urn:microsoft.com/office/officeart/2018/2/layout/IconVerticalSolidList"/>
    <dgm:cxn modelId="{1F79DA57-F2DB-4938-B8DB-AC7A4D7D9258}" type="presParOf" srcId="{35DCD6BA-D3BC-4153-AD03-6394AA79E1CC}" destId="{6F7C4F2E-11BC-4973-86AC-A055031154AE}" srcOrd="0" destOrd="0" presId="urn:microsoft.com/office/officeart/2018/2/layout/IconVerticalSolidList"/>
    <dgm:cxn modelId="{A570C5D7-3985-4688-A540-398486606523}" type="presParOf" srcId="{35DCD6BA-D3BC-4153-AD03-6394AA79E1CC}" destId="{3AB0A306-C049-4D0B-9251-9B9356DF4992}" srcOrd="1" destOrd="0" presId="urn:microsoft.com/office/officeart/2018/2/layout/IconVerticalSolidList"/>
    <dgm:cxn modelId="{6B1D8B80-7EB3-411E-BE0C-1F57B200E62C}" type="presParOf" srcId="{35DCD6BA-D3BC-4153-AD03-6394AA79E1CC}" destId="{0E9731E9-5051-4EE4-BD92-3EDE672A3C92}" srcOrd="2" destOrd="0" presId="urn:microsoft.com/office/officeart/2018/2/layout/IconVerticalSolidList"/>
    <dgm:cxn modelId="{91A99E65-F9EC-4BBE-8537-5FA858D9BFA3}" type="presParOf" srcId="{35DCD6BA-D3BC-4153-AD03-6394AA79E1CC}" destId="{2EB27B1F-006A-4E92-A1F9-A7F1DE49100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7B466B-B397-4F26-9F37-AF64789D3CB8}"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9155754-9349-4ED2-94AD-EA302925A520}">
      <dgm:prSet/>
      <dgm:spPr/>
      <dgm:t>
        <a:bodyPr/>
        <a:lstStyle/>
        <a:p>
          <a:pPr>
            <a:defRPr b="1"/>
          </a:pPr>
          <a:r>
            <a:rPr lang="en-US" b="1"/>
            <a:t>Scope of Research:</a:t>
          </a:r>
          <a:endParaRPr lang="en-US"/>
        </a:p>
      </dgm:t>
    </dgm:pt>
    <dgm:pt modelId="{5ABE0E93-C8B6-4C43-B760-685D24D5DBB3}" type="parTrans" cxnId="{EF73E1A9-9915-4A4C-8AE0-EEC6C42FA840}">
      <dgm:prSet/>
      <dgm:spPr/>
      <dgm:t>
        <a:bodyPr/>
        <a:lstStyle/>
        <a:p>
          <a:endParaRPr lang="en-US"/>
        </a:p>
      </dgm:t>
    </dgm:pt>
    <dgm:pt modelId="{6B4DF5DB-5B3A-439A-8312-9B5C222B1DC5}" type="sibTrans" cxnId="{EF73E1A9-9915-4A4C-8AE0-EEC6C42FA840}">
      <dgm:prSet/>
      <dgm:spPr/>
      <dgm:t>
        <a:bodyPr/>
        <a:lstStyle/>
        <a:p>
          <a:endParaRPr lang="en-US"/>
        </a:p>
      </dgm:t>
    </dgm:pt>
    <dgm:pt modelId="{2D30790F-BFBD-4488-939B-5B9CE73BFCD5}">
      <dgm:prSet custT="1"/>
      <dgm:spPr/>
      <dgm:t>
        <a:bodyPr/>
        <a:lstStyle/>
        <a:p>
          <a:r>
            <a:rPr lang="en-US" sz="1500" dirty="0"/>
            <a:t>Privacy preservation using machine learning spans multiple disciplines, including computer science, data ethics, cybersecurity, and behavioral psychology.</a:t>
          </a:r>
        </a:p>
      </dgm:t>
    </dgm:pt>
    <dgm:pt modelId="{1FBC14C5-4DFA-437C-8208-ED3EC3090730}" type="parTrans" cxnId="{929E34C4-005C-423A-ACF4-A7E5471A30DD}">
      <dgm:prSet/>
      <dgm:spPr/>
      <dgm:t>
        <a:bodyPr/>
        <a:lstStyle/>
        <a:p>
          <a:endParaRPr lang="en-US"/>
        </a:p>
      </dgm:t>
    </dgm:pt>
    <dgm:pt modelId="{98EB6215-7479-4C58-9622-2035B827086F}" type="sibTrans" cxnId="{929E34C4-005C-423A-ACF4-A7E5471A30DD}">
      <dgm:prSet/>
      <dgm:spPr/>
      <dgm:t>
        <a:bodyPr/>
        <a:lstStyle/>
        <a:p>
          <a:endParaRPr lang="en-US"/>
        </a:p>
      </dgm:t>
    </dgm:pt>
    <dgm:pt modelId="{55F7AAE1-8843-40F2-A542-04FB15682CEE}">
      <dgm:prSet/>
      <dgm:spPr/>
      <dgm:t>
        <a:bodyPr/>
        <a:lstStyle/>
        <a:p>
          <a:pPr>
            <a:defRPr b="1"/>
          </a:pPr>
          <a:r>
            <a:rPr lang="en-US" b="1"/>
            <a:t>Key Areas of Focus:</a:t>
          </a:r>
          <a:endParaRPr lang="en-US"/>
        </a:p>
      </dgm:t>
    </dgm:pt>
    <dgm:pt modelId="{C5DF66B2-E978-4A5C-A6E2-05092A1B1513}" type="parTrans" cxnId="{A08037F1-5DF5-4A47-8D37-2BE7333B0535}">
      <dgm:prSet/>
      <dgm:spPr/>
      <dgm:t>
        <a:bodyPr/>
        <a:lstStyle/>
        <a:p>
          <a:endParaRPr lang="en-US"/>
        </a:p>
      </dgm:t>
    </dgm:pt>
    <dgm:pt modelId="{AB2BEDD7-720E-4AFA-BD31-0A585D34E58C}" type="sibTrans" cxnId="{A08037F1-5DF5-4A47-8D37-2BE7333B0535}">
      <dgm:prSet/>
      <dgm:spPr/>
      <dgm:t>
        <a:bodyPr/>
        <a:lstStyle/>
        <a:p>
          <a:endParaRPr lang="en-US"/>
        </a:p>
      </dgm:t>
    </dgm:pt>
    <dgm:pt modelId="{CC9A02B0-F96C-4E09-869B-5FF9C0FAE9B4}">
      <dgm:prSet custT="1"/>
      <dgm:spPr/>
      <dgm:t>
        <a:bodyPr/>
        <a:lstStyle/>
        <a:p>
          <a:r>
            <a:rPr lang="en-US" sz="1500"/>
            <a:t>Detection of data breaches using machine learning algorithms.</a:t>
          </a:r>
        </a:p>
      </dgm:t>
    </dgm:pt>
    <dgm:pt modelId="{AF858967-837F-477C-B601-8BA6B704B9F3}" type="parTrans" cxnId="{2846C913-C90E-458F-8153-31FC596598AE}">
      <dgm:prSet/>
      <dgm:spPr/>
      <dgm:t>
        <a:bodyPr/>
        <a:lstStyle/>
        <a:p>
          <a:endParaRPr lang="en-US"/>
        </a:p>
      </dgm:t>
    </dgm:pt>
    <dgm:pt modelId="{0214C139-24A9-4E40-8CB0-3C0D87090D5D}" type="sibTrans" cxnId="{2846C913-C90E-458F-8153-31FC596598AE}">
      <dgm:prSet/>
      <dgm:spPr/>
      <dgm:t>
        <a:bodyPr/>
        <a:lstStyle/>
        <a:p>
          <a:endParaRPr lang="en-US"/>
        </a:p>
      </dgm:t>
    </dgm:pt>
    <dgm:pt modelId="{0C99AF58-3123-4B11-9C8E-BFE067CD8F50}">
      <dgm:prSet custT="1"/>
      <dgm:spPr/>
      <dgm:t>
        <a:bodyPr/>
        <a:lstStyle/>
        <a:p>
          <a:r>
            <a:rPr lang="en-US" sz="1500"/>
            <a:t>Prevention of unauthorized data access through innovative privacy-preserving methods.</a:t>
          </a:r>
        </a:p>
      </dgm:t>
    </dgm:pt>
    <dgm:pt modelId="{E58B2304-8A7E-45C2-B2ED-07888217E371}" type="parTrans" cxnId="{312254A6-BD40-47D2-9DAB-F134EC73EB03}">
      <dgm:prSet/>
      <dgm:spPr/>
      <dgm:t>
        <a:bodyPr/>
        <a:lstStyle/>
        <a:p>
          <a:endParaRPr lang="en-US"/>
        </a:p>
      </dgm:t>
    </dgm:pt>
    <dgm:pt modelId="{F9A96DF0-4CD2-4793-82B5-041B9B89D615}" type="sibTrans" cxnId="{312254A6-BD40-47D2-9DAB-F134EC73EB03}">
      <dgm:prSet/>
      <dgm:spPr/>
      <dgm:t>
        <a:bodyPr/>
        <a:lstStyle/>
        <a:p>
          <a:endParaRPr lang="en-US"/>
        </a:p>
      </dgm:t>
    </dgm:pt>
    <dgm:pt modelId="{1CA529AD-ACBA-4FD1-A9B7-4E013114D153}">
      <dgm:prSet custT="1"/>
      <dgm:spPr/>
      <dgm:t>
        <a:bodyPr/>
        <a:lstStyle/>
        <a:p>
          <a:r>
            <a:rPr lang="en-US" sz="1500" dirty="0"/>
            <a:t>Enhancement of data privacy using advanced algorithms like differential privacy, homomorphic encryption, and federated learning.</a:t>
          </a:r>
        </a:p>
      </dgm:t>
    </dgm:pt>
    <dgm:pt modelId="{02E8198E-402D-4EC9-AE8E-B08AA4543EB2}" type="parTrans" cxnId="{1752698D-A138-4E33-8664-5D252F28B28E}">
      <dgm:prSet/>
      <dgm:spPr/>
      <dgm:t>
        <a:bodyPr/>
        <a:lstStyle/>
        <a:p>
          <a:endParaRPr lang="en-US"/>
        </a:p>
      </dgm:t>
    </dgm:pt>
    <dgm:pt modelId="{9384591C-C9DC-4DE0-A5D3-1974DBC9C2B7}" type="sibTrans" cxnId="{1752698D-A138-4E33-8664-5D252F28B28E}">
      <dgm:prSet/>
      <dgm:spPr/>
      <dgm:t>
        <a:bodyPr/>
        <a:lstStyle/>
        <a:p>
          <a:endParaRPr lang="en-US"/>
        </a:p>
      </dgm:t>
    </dgm:pt>
    <dgm:pt modelId="{95171D09-BEDE-44B6-91C0-E2FB6B99EF3F}">
      <dgm:prSet/>
      <dgm:spPr/>
      <dgm:t>
        <a:bodyPr/>
        <a:lstStyle/>
        <a:p>
          <a:pPr>
            <a:defRPr b="1"/>
          </a:pPr>
          <a:r>
            <a:rPr lang="en-US" b="1"/>
            <a:t>Ethical Considerations:</a:t>
          </a:r>
          <a:endParaRPr lang="en-US"/>
        </a:p>
      </dgm:t>
    </dgm:pt>
    <dgm:pt modelId="{289EAE44-8D6C-4AAD-88C7-244E878D4137}" type="parTrans" cxnId="{340BA73F-726F-4094-A6E1-B3FFDE54BF5E}">
      <dgm:prSet/>
      <dgm:spPr/>
      <dgm:t>
        <a:bodyPr/>
        <a:lstStyle/>
        <a:p>
          <a:endParaRPr lang="en-US"/>
        </a:p>
      </dgm:t>
    </dgm:pt>
    <dgm:pt modelId="{BCF7278E-E8A7-48BB-A65C-3ECC251BDA84}" type="sibTrans" cxnId="{340BA73F-726F-4094-A6E1-B3FFDE54BF5E}">
      <dgm:prSet/>
      <dgm:spPr/>
      <dgm:t>
        <a:bodyPr/>
        <a:lstStyle/>
        <a:p>
          <a:endParaRPr lang="en-US"/>
        </a:p>
      </dgm:t>
    </dgm:pt>
    <dgm:pt modelId="{643DBB66-0FA7-43B3-B1DA-8C1239582031}">
      <dgm:prSet custT="1"/>
      <dgm:spPr/>
      <dgm:t>
        <a:bodyPr/>
        <a:lstStyle/>
        <a:p>
          <a:r>
            <a:rPr lang="en-US" sz="1500" dirty="0"/>
            <a:t>Studies emphasize the need for transparency in data collection and processing.</a:t>
          </a:r>
        </a:p>
      </dgm:t>
    </dgm:pt>
    <dgm:pt modelId="{272BF8F4-16EC-4378-B2F3-E035887E17D3}" type="parTrans" cxnId="{691EEF4D-149F-408C-88CC-F1297F48B736}">
      <dgm:prSet/>
      <dgm:spPr/>
      <dgm:t>
        <a:bodyPr/>
        <a:lstStyle/>
        <a:p>
          <a:endParaRPr lang="en-US"/>
        </a:p>
      </dgm:t>
    </dgm:pt>
    <dgm:pt modelId="{3909D3EF-CEF8-4523-A214-033233AF6FD8}" type="sibTrans" cxnId="{691EEF4D-149F-408C-88CC-F1297F48B736}">
      <dgm:prSet/>
      <dgm:spPr/>
      <dgm:t>
        <a:bodyPr/>
        <a:lstStyle/>
        <a:p>
          <a:endParaRPr lang="en-US"/>
        </a:p>
      </dgm:t>
    </dgm:pt>
    <dgm:pt modelId="{769A630D-FB83-4E5A-A014-3718350E4127}">
      <dgm:prSet custT="1"/>
      <dgm:spPr/>
      <dgm:t>
        <a:bodyPr/>
        <a:lstStyle/>
        <a:p>
          <a:r>
            <a:rPr lang="en-US" sz="1500" dirty="0"/>
            <a:t>Researchers have explored the ethical implications of using personal data for AI training.</a:t>
          </a:r>
        </a:p>
      </dgm:t>
    </dgm:pt>
    <dgm:pt modelId="{AC37EB9B-2AB3-4207-9DE4-1352D254366B}" type="parTrans" cxnId="{5DA26FF1-C5FE-4CC1-9091-4769963EF851}">
      <dgm:prSet/>
      <dgm:spPr/>
      <dgm:t>
        <a:bodyPr/>
        <a:lstStyle/>
        <a:p>
          <a:endParaRPr lang="en-US"/>
        </a:p>
      </dgm:t>
    </dgm:pt>
    <dgm:pt modelId="{529749ED-1562-4E23-B655-36E604378483}" type="sibTrans" cxnId="{5DA26FF1-C5FE-4CC1-9091-4769963EF851}">
      <dgm:prSet/>
      <dgm:spPr/>
      <dgm:t>
        <a:bodyPr/>
        <a:lstStyle/>
        <a:p>
          <a:endParaRPr lang="en-US"/>
        </a:p>
      </dgm:t>
    </dgm:pt>
    <dgm:pt modelId="{80B38DB6-622C-40DD-A86E-36812C85FFE3}">
      <dgm:prSet/>
      <dgm:spPr/>
      <dgm:t>
        <a:bodyPr/>
        <a:lstStyle/>
        <a:p>
          <a:pPr>
            <a:defRPr b="1"/>
          </a:pPr>
          <a:r>
            <a:rPr lang="en-US" b="1"/>
            <a:t>User Awareness and Behavior:</a:t>
          </a:r>
          <a:endParaRPr lang="en-US"/>
        </a:p>
      </dgm:t>
    </dgm:pt>
    <dgm:pt modelId="{6209020D-1B69-42C8-95BF-6610AF8B17F8}" type="parTrans" cxnId="{76D03088-558D-466B-80AF-2AEFE501D414}">
      <dgm:prSet/>
      <dgm:spPr/>
      <dgm:t>
        <a:bodyPr/>
        <a:lstStyle/>
        <a:p>
          <a:endParaRPr lang="en-US"/>
        </a:p>
      </dgm:t>
    </dgm:pt>
    <dgm:pt modelId="{290FFC55-E877-4530-9D20-0D2B897E96BC}" type="sibTrans" cxnId="{76D03088-558D-466B-80AF-2AEFE501D414}">
      <dgm:prSet/>
      <dgm:spPr/>
      <dgm:t>
        <a:bodyPr/>
        <a:lstStyle/>
        <a:p>
          <a:endParaRPr lang="en-US"/>
        </a:p>
      </dgm:t>
    </dgm:pt>
    <dgm:pt modelId="{AA98CE96-DB07-4622-89DA-9F9707285F87}">
      <dgm:prSet custT="1"/>
      <dgm:spPr/>
      <dgm:t>
        <a:bodyPr/>
        <a:lstStyle/>
        <a:p>
          <a:r>
            <a:rPr lang="en-US" sz="1500"/>
            <a:t>Research indicates that many users are unaware of how their data is being collected and used.</a:t>
          </a:r>
        </a:p>
      </dgm:t>
    </dgm:pt>
    <dgm:pt modelId="{59614404-8911-472D-9BF3-0646BAEBBCE9}" type="parTrans" cxnId="{BF56FE07-F908-4228-9109-207CA958565B}">
      <dgm:prSet/>
      <dgm:spPr/>
      <dgm:t>
        <a:bodyPr/>
        <a:lstStyle/>
        <a:p>
          <a:endParaRPr lang="en-US"/>
        </a:p>
      </dgm:t>
    </dgm:pt>
    <dgm:pt modelId="{E04B1A36-1847-4BD5-BAAD-67C05C9F7D3A}" type="sibTrans" cxnId="{BF56FE07-F908-4228-9109-207CA958565B}">
      <dgm:prSet/>
      <dgm:spPr/>
      <dgm:t>
        <a:bodyPr/>
        <a:lstStyle/>
        <a:p>
          <a:endParaRPr lang="en-US"/>
        </a:p>
      </dgm:t>
    </dgm:pt>
    <dgm:pt modelId="{24358025-EEF8-4FCC-93E7-A92C6B3730CC}">
      <dgm:prSet custT="1"/>
      <dgm:spPr/>
      <dgm:t>
        <a:bodyPr/>
        <a:lstStyle/>
        <a:p>
          <a:r>
            <a:rPr lang="en-US" sz="1500" dirty="0"/>
            <a:t>This lack of awareness highlights the importance of educating users about privacy risks and their rights.</a:t>
          </a:r>
        </a:p>
      </dgm:t>
    </dgm:pt>
    <dgm:pt modelId="{DE84BEBF-F563-4016-B4AD-4AA6B08169C1}" type="parTrans" cxnId="{90F9482C-9C35-41BC-AB37-CCE98A4D2F9F}">
      <dgm:prSet/>
      <dgm:spPr/>
      <dgm:t>
        <a:bodyPr/>
        <a:lstStyle/>
        <a:p>
          <a:endParaRPr lang="en-US"/>
        </a:p>
      </dgm:t>
    </dgm:pt>
    <dgm:pt modelId="{76F80D9F-8B4B-4D5C-A81C-264D923D705E}" type="sibTrans" cxnId="{90F9482C-9C35-41BC-AB37-CCE98A4D2F9F}">
      <dgm:prSet/>
      <dgm:spPr/>
      <dgm:t>
        <a:bodyPr/>
        <a:lstStyle/>
        <a:p>
          <a:endParaRPr lang="en-US"/>
        </a:p>
      </dgm:t>
    </dgm:pt>
    <dgm:pt modelId="{99A8A5EC-6B04-4AF3-88C7-EDB5B8910C32}">
      <dgm:prSet/>
      <dgm:spPr/>
      <dgm:t>
        <a:bodyPr/>
        <a:lstStyle/>
        <a:p>
          <a:pPr>
            <a:defRPr b="1"/>
          </a:pPr>
          <a:r>
            <a:rPr lang="en-US" b="1"/>
            <a:t>Impact on Privacy Technologies:</a:t>
          </a:r>
          <a:endParaRPr lang="en-US"/>
        </a:p>
      </dgm:t>
    </dgm:pt>
    <dgm:pt modelId="{B953864B-7D75-4D52-A412-033741C039DA}" type="parTrans" cxnId="{B6D3340C-8FC5-4F48-B1C1-95397C395784}">
      <dgm:prSet/>
      <dgm:spPr/>
      <dgm:t>
        <a:bodyPr/>
        <a:lstStyle/>
        <a:p>
          <a:endParaRPr lang="en-US"/>
        </a:p>
      </dgm:t>
    </dgm:pt>
    <dgm:pt modelId="{580C16AA-B5B9-4783-8173-0EDAA7EE662E}" type="sibTrans" cxnId="{B6D3340C-8FC5-4F48-B1C1-95397C395784}">
      <dgm:prSet/>
      <dgm:spPr/>
      <dgm:t>
        <a:bodyPr/>
        <a:lstStyle/>
        <a:p>
          <a:endParaRPr lang="en-US"/>
        </a:p>
      </dgm:t>
    </dgm:pt>
    <dgm:pt modelId="{C638F94D-19C8-46C6-9E7D-EE05D0626183}">
      <dgm:prSet custT="1"/>
      <dgm:spPr/>
      <dgm:t>
        <a:bodyPr/>
        <a:lstStyle/>
        <a:p>
          <a:r>
            <a:rPr lang="en-US" sz="1500" dirty="0"/>
            <a:t>The findings from these studies have contributed to the development of privacy-preserving machine learning technologies, shaping current best practices and guidelines.</a:t>
          </a:r>
        </a:p>
      </dgm:t>
    </dgm:pt>
    <dgm:pt modelId="{06684FA7-AD33-4C23-95BA-5891E3BD50D4}" type="parTrans" cxnId="{BF1AF184-1D94-4E5E-B7F4-07BD07F44C9C}">
      <dgm:prSet/>
      <dgm:spPr/>
      <dgm:t>
        <a:bodyPr/>
        <a:lstStyle/>
        <a:p>
          <a:endParaRPr lang="en-US"/>
        </a:p>
      </dgm:t>
    </dgm:pt>
    <dgm:pt modelId="{24FB7D5F-2112-4F2F-B704-6B706A6C4704}" type="sibTrans" cxnId="{BF1AF184-1D94-4E5E-B7F4-07BD07F44C9C}">
      <dgm:prSet/>
      <dgm:spPr/>
      <dgm:t>
        <a:bodyPr/>
        <a:lstStyle/>
        <a:p>
          <a:endParaRPr lang="en-US"/>
        </a:p>
      </dgm:t>
    </dgm:pt>
    <dgm:pt modelId="{D0A46BF0-7C4D-465C-B5E3-74A726751467}" type="pres">
      <dgm:prSet presAssocID="{977B466B-B397-4F26-9F37-AF64789D3CB8}" presName="root" presStyleCnt="0">
        <dgm:presLayoutVars>
          <dgm:dir/>
          <dgm:resizeHandles val="exact"/>
        </dgm:presLayoutVars>
      </dgm:prSet>
      <dgm:spPr/>
    </dgm:pt>
    <dgm:pt modelId="{A46544B4-FD42-4EAF-BF62-FBDED2169B75}" type="pres">
      <dgm:prSet presAssocID="{39155754-9349-4ED2-94AD-EA302925A520}" presName="compNode" presStyleCnt="0"/>
      <dgm:spPr/>
    </dgm:pt>
    <dgm:pt modelId="{517990AC-38AC-49AC-BD20-FCB91D9DB48E}" type="pres">
      <dgm:prSet presAssocID="{39155754-9349-4ED2-94AD-EA302925A52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267156E5-E935-4CA9-8776-BE83AEBE986E}" type="pres">
      <dgm:prSet presAssocID="{39155754-9349-4ED2-94AD-EA302925A520}" presName="iconSpace" presStyleCnt="0"/>
      <dgm:spPr/>
    </dgm:pt>
    <dgm:pt modelId="{0C6B89C6-3518-4BDF-8C6E-37FA237FC8A5}" type="pres">
      <dgm:prSet presAssocID="{39155754-9349-4ED2-94AD-EA302925A520}" presName="parTx" presStyleLbl="revTx" presStyleIdx="0" presStyleCnt="10">
        <dgm:presLayoutVars>
          <dgm:chMax val="0"/>
          <dgm:chPref val="0"/>
        </dgm:presLayoutVars>
      </dgm:prSet>
      <dgm:spPr/>
    </dgm:pt>
    <dgm:pt modelId="{6E840F12-8853-4724-BF11-4A0B7B20D194}" type="pres">
      <dgm:prSet presAssocID="{39155754-9349-4ED2-94AD-EA302925A520}" presName="txSpace" presStyleCnt="0"/>
      <dgm:spPr/>
    </dgm:pt>
    <dgm:pt modelId="{E5D6A064-868E-4163-B69B-9BF6A5C1C2E2}" type="pres">
      <dgm:prSet presAssocID="{39155754-9349-4ED2-94AD-EA302925A520}" presName="desTx" presStyleLbl="revTx" presStyleIdx="1" presStyleCnt="10">
        <dgm:presLayoutVars/>
      </dgm:prSet>
      <dgm:spPr/>
    </dgm:pt>
    <dgm:pt modelId="{EEBE1E45-E077-4BEE-AE78-400E28C56204}" type="pres">
      <dgm:prSet presAssocID="{6B4DF5DB-5B3A-439A-8312-9B5C222B1DC5}" presName="sibTrans" presStyleCnt="0"/>
      <dgm:spPr/>
    </dgm:pt>
    <dgm:pt modelId="{4FEF1A73-69AE-4271-B727-BBC4BF88956C}" type="pres">
      <dgm:prSet presAssocID="{55F7AAE1-8843-40F2-A542-04FB15682CEE}" presName="compNode" presStyleCnt="0"/>
      <dgm:spPr/>
    </dgm:pt>
    <dgm:pt modelId="{C87457B1-1B20-416D-B777-5BFD237EE17F}" type="pres">
      <dgm:prSet presAssocID="{55F7AAE1-8843-40F2-A542-04FB15682CE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862359A7-845D-4BF1-9ECD-181FA55D450E}" type="pres">
      <dgm:prSet presAssocID="{55F7AAE1-8843-40F2-A542-04FB15682CEE}" presName="iconSpace" presStyleCnt="0"/>
      <dgm:spPr/>
    </dgm:pt>
    <dgm:pt modelId="{2A0208E3-E5B2-44EC-8ECF-6DA4C385E4A2}" type="pres">
      <dgm:prSet presAssocID="{55F7AAE1-8843-40F2-A542-04FB15682CEE}" presName="parTx" presStyleLbl="revTx" presStyleIdx="2" presStyleCnt="10">
        <dgm:presLayoutVars>
          <dgm:chMax val="0"/>
          <dgm:chPref val="0"/>
        </dgm:presLayoutVars>
      </dgm:prSet>
      <dgm:spPr/>
    </dgm:pt>
    <dgm:pt modelId="{4CBEA3B0-0AC8-4A12-A6F9-81CFB5A8C169}" type="pres">
      <dgm:prSet presAssocID="{55F7AAE1-8843-40F2-A542-04FB15682CEE}" presName="txSpace" presStyleCnt="0"/>
      <dgm:spPr/>
    </dgm:pt>
    <dgm:pt modelId="{B9560C85-F622-4C3A-9396-704FE4FA847B}" type="pres">
      <dgm:prSet presAssocID="{55F7AAE1-8843-40F2-A542-04FB15682CEE}" presName="desTx" presStyleLbl="revTx" presStyleIdx="3" presStyleCnt="10">
        <dgm:presLayoutVars/>
      </dgm:prSet>
      <dgm:spPr/>
    </dgm:pt>
    <dgm:pt modelId="{AFEA7250-E524-4FCD-9CC6-8E22BA4DB9E2}" type="pres">
      <dgm:prSet presAssocID="{AB2BEDD7-720E-4AFA-BD31-0A585D34E58C}" presName="sibTrans" presStyleCnt="0"/>
      <dgm:spPr/>
    </dgm:pt>
    <dgm:pt modelId="{F6777B0B-21C3-4427-AF52-8AC194620D95}" type="pres">
      <dgm:prSet presAssocID="{95171D09-BEDE-44B6-91C0-E2FB6B99EF3F}" presName="compNode" presStyleCnt="0"/>
      <dgm:spPr/>
    </dgm:pt>
    <dgm:pt modelId="{F3BC6A03-833D-431A-BBA9-C5B58B8B1981}" type="pres">
      <dgm:prSet presAssocID="{95171D09-BEDE-44B6-91C0-E2FB6B99EF3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rson with Idea"/>
        </a:ext>
      </dgm:extLst>
    </dgm:pt>
    <dgm:pt modelId="{1DEEAABB-BD34-458A-8D38-42AE8D0CE3D3}" type="pres">
      <dgm:prSet presAssocID="{95171D09-BEDE-44B6-91C0-E2FB6B99EF3F}" presName="iconSpace" presStyleCnt="0"/>
      <dgm:spPr/>
    </dgm:pt>
    <dgm:pt modelId="{1FEB2BBC-F5E9-4DD5-BE0E-DCC4570960EF}" type="pres">
      <dgm:prSet presAssocID="{95171D09-BEDE-44B6-91C0-E2FB6B99EF3F}" presName="parTx" presStyleLbl="revTx" presStyleIdx="4" presStyleCnt="10">
        <dgm:presLayoutVars>
          <dgm:chMax val="0"/>
          <dgm:chPref val="0"/>
        </dgm:presLayoutVars>
      </dgm:prSet>
      <dgm:spPr/>
    </dgm:pt>
    <dgm:pt modelId="{4159248C-2B05-4871-97B8-E497306F21AD}" type="pres">
      <dgm:prSet presAssocID="{95171D09-BEDE-44B6-91C0-E2FB6B99EF3F}" presName="txSpace" presStyleCnt="0"/>
      <dgm:spPr/>
    </dgm:pt>
    <dgm:pt modelId="{9AD968AA-868D-41E0-B813-2F0ABDDDC80C}" type="pres">
      <dgm:prSet presAssocID="{95171D09-BEDE-44B6-91C0-E2FB6B99EF3F}" presName="desTx" presStyleLbl="revTx" presStyleIdx="5" presStyleCnt="10">
        <dgm:presLayoutVars/>
      </dgm:prSet>
      <dgm:spPr/>
    </dgm:pt>
    <dgm:pt modelId="{8AF90AA2-F4BC-4748-858C-E02AD9686499}" type="pres">
      <dgm:prSet presAssocID="{BCF7278E-E8A7-48BB-A65C-3ECC251BDA84}" presName="sibTrans" presStyleCnt="0"/>
      <dgm:spPr/>
    </dgm:pt>
    <dgm:pt modelId="{98B9E5FD-3C8B-467B-AEAB-C2DE83FAE018}" type="pres">
      <dgm:prSet presAssocID="{80B38DB6-622C-40DD-A86E-36812C85FFE3}" presName="compNode" presStyleCnt="0"/>
      <dgm:spPr/>
    </dgm:pt>
    <dgm:pt modelId="{3352120D-6BEB-4DF2-B486-0866C0DDF224}" type="pres">
      <dgm:prSet presAssocID="{80B38DB6-622C-40DD-A86E-36812C85FFE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rget Audience"/>
        </a:ext>
      </dgm:extLst>
    </dgm:pt>
    <dgm:pt modelId="{B599DD6C-A6DC-4DB0-8517-E95385D49A98}" type="pres">
      <dgm:prSet presAssocID="{80B38DB6-622C-40DD-A86E-36812C85FFE3}" presName="iconSpace" presStyleCnt="0"/>
      <dgm:spPr/>
    </dgm:pt>
    <dgm:pt modelId="{0E257262-3153-4F1D-B7A7-CBCB7BB888AC}" type="pres">
      <dgm:prSet presAssocID="{80B38DB6-622C-40DD-A86E-36812C85FFE3}" presName="parTx" presStyleLbl="revTx" presStyleIdx="6" presStyleCnt="10">
        <dgm:presLayoutVars>
          <dgm:chMax val="0"/>
          <dgm:chPref val="0"/>
        </dgm:presLayoutVars>
      </dgm:prSet>
      <dgm:spPr/>
    </dgm:pt>
    <dgm:pt modelId="{974F16CF-F551-4F26-9A1C-4176F5E575DC}" type="pres">
      <dgm:prSet presAssocID="{80B38DB6-622C-40DD-A86E-36812C85FFE3}" presName="txSpace" presStyleCnt="0"/>
      <dgm:spPr/>
    </dgm:pt>
    <dgm:pt modelId="{7548B2E5-24A0-47F9-9452-11D04C49CC86}" type="pres">
      <dgm:prSet presAssocID="{80B38DB6-622C-40DD-A86E-36812C85FFE3}" presName="desTx" presStyleLbl="revTx" presStyleIdx="7" presStyleCnt="10">
        <dgm:presLayoutVars/>
      </dgm:prSet>
      <dgm:spPr/>
    </dgm:pt>
    <dgm:pt modelId="{9F0A0201-D14C-4E06-8967-EBA5CCC2F6C7}" type="pres">
      <dgm:prSet presAssocID="{290FFC55-E877-4530-9D20-0D2B897E96BC}" presName="sibTrans" presStyleCnt="0"/>
      <dgm:spPr/>
    </dgm:pt>
    <dgm:pt modelId="{3C2AE734-763E-46F7-ABFE-C3E1B757E331}" type="pres">
      <dgm:prSet presAssocID="{99A8A5EC-6B04-4AF3-88C7-EDB5B8910C32}" presName="compNode" presStyleCnt="0"/>
      <dgm:spPr/>
    </dgm:pt>
    <dgm:pt modelId="{E6733DF0-EE98-4FE5-B38D-D316263630B3}" type="pres">
      <dgm:prSet presAssocID="{99A8A5EC-6B04-4AF3-88C7-EDB5B8910C3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cessor"/>
        </a:ext>
      </dgm:extLst>
    </dgm:pt>
    <dgm:pt modelId="{8F387BAC-7248-4672-A825-F970A34F7A0C}" type="pres">
      <dgm:prSet presAssocID="{99A8A5EC-6B04-4AF3-88C7-EDB5B8910C32}" presName="iconSpace" presStyleCnt="0"/>
      <dgm:spPr/>
    </dgm:pt>
    <dgm:pt modelId="{F5186681-0921-4A1F-8D8D-22115856911E}" type="pres">
      <dgm:prSet presAssocID="{99A8A5EC-6B04-4AF3-88C7-EDB5B8910C32}" presName="parTx" presStyleLbl="revTx" presStyleIdx="8" presStyleCnt="10">
        <dgm:presLayoutVars>
          <dgm:chMax val="0"/>
          <dgm:chPref val="0"/>
        </dgm:presLayoutVars>
      </dgm:prSet>
      <dgm:spPr/>
    </dgm:pt>
    <dgm:pt modelId="{AA6141CF-3E12-44C4-9DE3-27729669C073}" type="pres">
      <dgm:prSet presAssocID="{99A8A5EC-6B04-4AF3-88C7-EDB5B8910C32}" presName="txSpace" presStyleCnt="0"/>
      <dgm:spPr/>
    </dgm:pt>
    <dgm:pt modelId="{C39CA5D5-FC83-4EF8-AAA5-ED10F1231512}" type="pres">
      <dgm:prSet presAssocID="{99A8A5EC-6B04-4AF3-88C7-EDB5B8910C32}" presName="desTx" presStyleLbl="revTx" presStyleIdx="9" presStyleCnt="10">
        <dgm:presLayoutVars/>
      </dgm:prSet>
      <dgm:spPr/>
    </dgm:pt>
  </dgm:ptLst>
  <dgm:cxnLst>
    <dgm:cxn modelId="{BF56FE07-F908-4228-9109-207CA958565B}" srcId="{80B38DB6-622C-40DD-A86E-36812C85FFE3}" destId="{AA98CE96-DB07-4622-89DA-9F9707285F87}" srcOrd="0" destOrd="0" parTransId="{59614404-8911-472D-9BF3-0646BAEBBCE9}" sibTransId="{E04B1A36-1847-4BD5-BAAD-67C05C9F7D3A}"/>
    <dgm:cxn modelId="{51167709-184F-4615-9A70-F45FBA74E078}" type="presOf" srcId="{24358025-EEF8-4FCC-93E7-A92C6B3730CC}" destId="{7548B2E5-24A0-47F9-9452-11D04C49CC86}" srcOrd="0" destOrd="1" presId="urn:microsoft.com/office/officeart/2018/2/layout/IconLabelDescriptionList"/>
    <dgm:cxn modelId="{B6D3340C-8FC5-4F48-B1C1-95397C395784}" srcId="{977B466B-B397-4F26-9F37-AF64789D3CB8}" destId="{99A8A5EC-6B04-4AF3-88C7-EDB5B8910C32}" srcOrd="4" destOrd="0" parTransId="{B953864B-7D75-4D52-A412-033741C039DA}" sibTransId="{580C16AA-B5B9-4783-8173-0EDAA7EE662E}"/>
    <dgm:cxn modelId="{E303FD0F-02A4-4C32-9B79-5F1852DAFD05}" type="presOf" srcId="{CC9A02B0-F96C-4E09-869B-5FF9C0FAE9B4}" destId="{B9560C85-F622-4C3A-9396-704FE4FA847B}" srcOrd="0" destOrd="0" presId="urn:microsoft.com/office/officeart/2018/2/layout/IconLabelDescriptionList"/>
    <dgm:cxn modelId="{2846C913-C90E-458F-8153-31FC596598AE}" srcId="{55F7AAE1-8843-40F2-A542-04FB15682CEE}" destId="{CC9A02B0-F96C-4E09-869B-5FF9C0FAE9B4}" srcOrd="0" destOrd="0" parTransId="{AF858967-837F-477C-B601-8BA6B704B9F3}" sibTransId="{0214C139-24A9-4E40-8CB0-3C0D87090D5D}"/>
    <dgm:cxn modelId="{CAE70B26-8288-4F07-95BC-555A30946C0C}" type="presOf" srcId="{1CA529AD-ACBA-4FD1-A9B7-4E013114D153}" destId="{B9560C85-F622-4C3A-9396-704FE4FA847B}" srcOrd="0" destOrd="2" presId="urn:microsoft.com/office/officeart/2018/2/layout/IconLabelDescriptionList"/>
    <dgm:cxn modelId="{EDF4C328-43F7-45EA-BC9F-998E63B5ED54}" type="presOf" srcId="{39155754-9349-4ED2-94AD-EA302925A520}" destId="{0C6B89C6-3518-4BDF-8C6E-37FA237FC8A5}" srcOrd="0" destOrd="0" presId="urn:microsoft.com/office/officeart/2018/2/layout/IconLabelDescriptionList"/>
    <dgm:cxn modelId="{CE06042C-A3F0-4E42-BE4A-70996BA5E674}" type="presOf" srcId="{643DBB66-0FA7-43B3-B1DA-8C1239582031}" destId="{9AD968AA-868D-41E0-B813-2F0ABDDDC80C}" srcOrd="0" destOrd="0" presId="urn:microsoft.com/office/officeart/2018/2/layout/IconLabelDescriptionList"/>
    <dgm:cxn modelId="{90F9482C-9C35-41BC-AB37-CCE98A4D2F9F}" srcId="{80B38DB6-622C-40DD-A86E-36812C85FFE3}" destId="{24358025-EEF8-4FCC-93E7-A92C6B3730CC}" srcOrd="1" destOrd="0" parTransId="{DE84BEBF-F563-4016-B4AD-4AA6B08169C1}" sibTransId="{76F80D9F-8B4B-4D5C-A81C-264D923D705E}"/>
    <dgm:cxn modelId="{4E7C7D2F-F063-4C79-9D8B-C7DCB96A7D3A}" type="presOf" srcId="{C638F94D-19C8-46C6-9E7D-EE05D0626183}" destId="{C39CA5D5-FC83-4EF8-AAA5-ED10F1231512}" srcOrd="0" destOrd="0" presId="urn:microsoft.com/office/officeart/2018/2/layout/IconLabelDescriptionList"/>
    <dgm:cxn modelId="{21458731-D0FD-467F-9A41-49C95D75D76C}" type="presOf" srcId="{2D30790F-BFBD-4488-939B-5B9CE73BFCD5}" destId="{E5D6A064-868E-4163-B69B-9BF6A5C1C2E2}" srcOrd="0" destOrd="0" presId="urn:microsoft.com/office/officeart/2018/2/layout/IconLabelDescriptionList"/>
    <dgm:cxn modelId="{A24FD433-5480-4CFC-BEAE-6BA8632C3019}" type="presOf" srcId="{95171D09-BEDE-44B6-91C0-E2FB6B99EF3F}" destId="{1FEB2BBC-F5E9-4DD5-BE0E-DCC4570960EF}" srcOrd="0" destOrd="0" presId="urn:microsoft.com/office/officeart/2018/2/layout/IconLabelDescriptionList"/>
    <dgm:cxn modelId="{340BA73F-726F-4094-A6E1-B3FFDE54BF5E}" srcId="{977B466B-B397-4F26-9F37-AF64789D3CB8}" destId="{95171D09-BEDE-44B6-91C0-E2FB6B99EF3F}" srcOrd="2" destOrd="0" parTransId="{289EAE44-8D6C-4AAD-88C7-244E878D4137}" sibTransId="{BCF7278E-E8A7-48BB-A65C-3ECC251BDA84}"/>
    <dgm:cxn modelId="{691EEF4D-149F-408C-88CC-F1297F48B736}" srcId="{95171D09-BEDE-44B6-91C0-E2FB6B99EF3F}" destId="{643DBB66-0FA7-43B3-B1DA-8C1239582031}" srcOrd="0" destOrd="0" parTransId="{272BF8F4-16EC-4378-B2F3-E035887E17D3}" sibTransId="{3909D3EF-CEF8-4523-A214-033233AF6FD8}"/>
    <dgm:cxn modelId="{21916274-2450-42E2-8BB7-8189ADECAA75}" type="presOf" srcId="{55F7AAE1-8843-40F2-A542-04FB15682CEE}" destId="{2A0208E3-E5B2-44EC-8ECF-6DA4C385E4A2}" srcOrd="0" destOrd="0" presId="urn:microsoft.com/office/officeart/2018/2/layout/IconLabelDescriptionList"/>
    <dgm:cxn modelId="{BF1AF184-1D94-4E5E-B7F4-07BD07F44C9C}" srcId="{99A8A5EC-6B04-4AF3-88C7-EDB5B8910C32}" destId="{C638F94D-19C8-46C6-9E7D-EE05D0626183}" srcOrd="0" destOrd="0" parTransId="{06684FA7-AD33-4C23-95BA-5891E3BD50D4}" sibTransId="{24FB7D5F-2112-4F2F-B704-6B706A6C4704}"/>
    <dgm:cxn modelId="{76D03088-558D-466B-80AF-2AEFE501D414}" srcId="{977B466B-B397-4F26-9F37-AF64789D3CB8}" destId="{80B38DB6-622C-40DD-A86E-36812C85FFE3}" srcOrd="3" destOrd="0" parTransId="{6209020D-1B69-42C8-95BF-6610AF8B17F8}" sibTransId="{290FFC55-E877-4530-9D20-0D2B897E96BC}"/>
    <dgm:cxn modelId="{1752698D-A138-4E33-8664-5D252F28B28E}" srcId="{55F7AAE1-8843-40F2-A542-04FB15682CEE}" destId="{1CA529AD-ACBA-4FD1-A9B7-4E013114D153}" srcOrd="2" destOrd="0" parTransId="{02E8198E-402D-4EC9-AE8E-B08AA4543EB2}" sibTransId="{9384591C-C9DC-4DE0-A5D3-1974DBC9C2B7}"/>
    <dgm:cxn modelId="{926E0E9D-60EA-4893-8C3C-0761B0BD93E8}" type="presOf" srcId="{977B466B-B397-4F26-9F37-AF64789D3CB8}" destId="{D0A46BF0-7C4D-465C-B5E3-74A726751467}" srcOrd="0" destOrd="0" presId="urn:microsoft.com/office/officeart/2018/2/layout/IconLabelDescriptionList"/>
    <dgm:cxn modelId="{71A0DBA4-B629-4979-AAD5-6497C7A1F28E}" type="presOf" srcId="{0C99AF58-3123-4B11-9C8E-BFE067CD8F50}" destId="{B9560C85-F622-4C3A-9396-704FE4FA847B}" srcOrd="0" destOrd="1" presId="urn:microsoft.com/office/officeart/2018/2/layout/IconLabelDescriptionList"/>
    <dgm:cxn modelId="{312254A6-BD40-47D2-9DAB-F134EC73EB03}" srcId="{55F7AAE1-8843-40F2-A542-04FB15682CEE}" destId="{0C99AF58-3123-4B11-9C8E-BFE067CD8F50}" srcOrd="1" destOrd="0" parTransId="{E58B2304-8A7E-45C2-B2ED-07888217E371}" sibTransId="{F9A96DF0-4CD2-4793-82B5-041B9B89D615}"/>
    <dgm:cxn modelId="{EF73E1A9-9915-4A4C-8AE0-EEC6C42FA840}" srcId="{977B466B-B397-4F26-9F37-AF64789D3CB8}" destId="{39155754-9349-4ED2-94AD-EA302925A520}" srcOrd="0" destOrd="0" parTransId="{5ABE0E93-C8B6-4C43-B760-685D24D5DBB3}" sibTransId="{6B4DF5DB-5B3A-439A-8312-9B5C222B1DC5}"/>
    <dgm:cxn modelId="{929E34C4-005C-423A-ACF4-A7E5471A30DD}" srcId="{39155754-9349-4ED2-94AD-EA302925A520}" destId="{2D30790F-BFBD-4488-939B-5B9CE73BFCD5}" srcOrd="0" destOrd="0" parTransId="{1FBC14C5-4DFA-437C-8208-ED3EC3090730}" sibTransId="{98EB6215-7479-4C58-9622-2035B827086F}"/>
    <dgm:cxn modelId="{321592D8-404E-4E49-9F94-4A21872EC9A5}" type="presOf" srcId="{769A630D-FB83-4E5A-A014-3718350E4127}" destId="{9AD968AA-868D-41E0-B813-2F0ABDDDC80C}" srcOrd="0" destOrd="1" presId="urn:microsoft.com/office/officeart/2018/2/layout/IconLabelDescriptionList"/>
    <dgm:cxn modelId="{B81C1EDA-1E03-4386-B4F4-C16FFE1DB31F}" type="presOf" srcId="{80B38DB6-622C-40DD-A86E-36812C85FFE3}" destId="{0E257262-3153-4F1D-B7A7-CBCB7BB888AC}" srcOrd="0" destOrd="0" presId="urn:microsoft.com/office/officeart/2018/2/layout/IconLabelDescriptionList"/>
    <dgm:cxn modelId="{BA9C04E6-7F82-4C10-A918-7BADC9F39090}" type="presOf" srcId="{AA98CE96-DB07-4622-89DA-9F9707285F87}" destId="{7548B2E5-24A0-47F9-9452-11D04C49CC86}" srcOrd="0" destOrd="0" presId="urn:microsoft.com/office/officeart/2018/2/layout/IconLabelDescriptionList"/>
    <dgm:cxn modelId="{A08037F1-5DF5-4A47-8D37-2BE7333B0535}" srcId="{977B466B-B397-4F26-9F37-AF64789D3CB8}" destId="{55F7AAE1-8843-40F2-A542-04FB15682CEE}" srcOrd="1" destOrd="0" parTransId="{C5DF66B2-E978-4A5C-A6E2-05092A1B1513}" sibTransId="{AB2BEDD7-720E-4AFA-BD31-0A585D34E58C}"/>
    <dgm:cxn modelId="{5DA26FF1-C5FE-4CC1-9091-4769963EF851}" srcId="{95171D09-BEDE-44B6-91C0-E2FB6B99EF3F}" destId="{769A630D-FB83-4E5A-A014-3718350E4127}" srcOrd="1" destOrd="0" parTransId="{AC37EB9B-2AB3-4207-9DE4-1352D254366B}" sibTransId="{529749ED-1562-4E23-B655-36E604378483}"/>
    <dgm:cxn modelId="{19E5EAFE-61F0-47DD-B029-5C8C63239AA7}" type="presOf" srcId="{99A8A5EC-6B04-4AF3-88C7-EDB5B8910C32}" destId="{F5186681-0921-4A1F-8D8D-22115856911E}" srcOrd="0" destOrd="0" presId="urn:microsoft.com/office/officeart/2018/2/layout/IconLabelDescriptionList"/>
    <dgm:cxn modelId="{D5A95BA1-2D96-4067-A334-A63294B646CF}" type="presParOf" srcId="{D0A46BF0-7C4D-465C-B5E3-74A726751467}" destId="{A46544B4-FD42-4EAF-BF62-FBDED2169B75}" srcOrd="0" destOrd="0" presId="urn:microsoft.com/office/officeart/2018/2/layout/IconLabelDescriptionList"/>
    <dgm:cxn modelId="{AF486C75-F9ED-4BA6-B3BF-44DBDCAD12C7}" type="presParOf" srcId="{A46544B4-FD42-4EAF-BF62-FBDED2169B75}" destId="{517990AC-38AC-49AC-BD20-FCB91D9DB48E}" srcOrd="0" destOrd="0" presId="urn:microsoft.com/office/officeart/2018/2/layout/IconLabelDescriptionList"/>
    <dgm:cxn modelId="{55B6F659-70AB-463A-8563-EAD1E9C75FE2}" type="presParOf" srcId="{A46544B4-FD42-4EAF-BF62-FBDED2169B75}" destId="{267156E5-E935-4CA9-8776-BE83AEBE986E}" srcOrd="1" destOrd="0" presId="urn:microsoft.com/office/officeart/2018/2/layout/IconLabelDescriptionList"/>
    <dgm:cxn modelId="{771B0815-3FB3-4709-8D09-6E43CAD7A9E8}" type="presParOf" srcId="{A46544B4-FD42-4EAF-BF62-FBDED2169B75}" destId="{0C6B89C6-3518-4BDF-8C6E-37FA237FC8A5}" srcOrd="2" destOrd="0" presId="urn:microsoft.com/office/officeart/2018/2/layout/IconLabelDescriptionList"/>
    <dgm:cxn modelId="{06C68ED2-EF61-40B1-BBD6-87B3567FCB40}" type="presParOf" srcId="{A46544B4-FD42-4EAF-BF62-FBDED2169B75}" destId="{6E840F12-8853-4724-BF11-4A0B7B20D194}" srcOrd="3" destOrd="0" presId="urn:microsoft.com/office/officeart/2018/2/layout/IconLabelDescriptionList"/>
    <dgm:cxn modelId="{86821205-7DE6-4270-8A6A-195A3B770FBC}" type="presParOf" srcId="{A46544B4-FD42-4EAF-BF62-FBDED2169B75}" destId="{E5D6A064-868E-4163-B69B-9BF6A5C1C2E2}" srcOrd="4" destOrd="0" presId="urn:microsoft.com/office/officeart/2018/2/layout/IconLabelDescriptionList"/>
    <dgm:cxn modelId="{B009D37E-2D53-4A62-A86C-76410F5F67EA}" type="presParOf" srcId="{D0A46BF0-7C4D-465C-B5E3-74A726751467}" destId="{EEBE1E45-E077-4BEE-AE78-400E28C56204}" srcOrd="1" destOrd="0" presId="urn:microsoft.com/office/officeart/2018/2/layout/IconLabelDescriptionList"/>
    <dgm:cxn modelId="{AE98A197-DA2F-45F7-BFB2-8E7AED832447}" type="presParOf" srcId="{D0A46BF0-7C4D-465C-B5E3-74A726751467}" destId="{4FEF1A73-69AE-4271-B727-BBC4BF88956C}" srcOrd="2" destOrd="0" presId="urn:microsoft.com/office/officeart/2018/2/layout/IconLabelDescriptionList"/>
    <dgm:cxn modelId="{BBD58651-55C9-4DD0-A366-7B59C3449E13}" type="presParOf" srcId="{4FEF1A73-69AE-4271-B727-BBC4BF88956C}" destId="{C87457B1-1B20-416D-B777-5BFD237EE17F}" srcOrd="0" destOrd="0" presId="urn:microsoft.com/office/officeart/2018/2/layout/IconLabelDescriptionList"/>
    <dgm:cxn modelId="{910B8522-9259-425B-8BE5-6C401A58B400}" type="presParOf" srcId="{4FEF1A73-69AE-4271-B727-BBC4BF88956C}" destId="{862359A7-845D-4BF1-9ECD-181FA55D450E}" srcOrd="1" destOrd="0" presId="urn:microsoft.com/office/officeart/2018/2/layout/IconLabelDescriptionList"/>
    <dgm:cxn modelId="{CEBD4B96-3EBB-4145-8349-31849C3FB9E6}" type="presParOf" srcId="{4FEF1A73-69AE-4271-B727-BBC4BF88956C}" destId="{2A0208E3-E5B2-44EC-8ECF-6DA4C385E4A2}" srcOrd="2" destOrd="0" presId="urn:microsoft.com/office/officeart/2018/2/layout/IconLabelDescriptionList"/>
    <dgm:cxn modelId="{8A3844F6-D34A-4DB7-B0BD-AF4F1B9D70A5}" type="presParOf" srcId="{4FEF1A73-69AE-4271-B727-BBC4BF88956C}" destId="{4CBEA3B0-0AC8-4A12-A6F9-81CFB5A8C169}" srcOrd="3" destOrd="0" presId="urn:microsoft.com/office/officeart/2018/2/layout/IconLabelDescriptionList"/>
    <dgm:cxn modelId="{3B594651-9CB3-40E3-B518-AA4BF4EE5A92}" type="presParOf" srcId="{4FEF1A73-69AE-4271-B727-BBC4BF88956C}" destId="{B9560C85-F622-4C3A-9396-704FE4FA847B}" srcOrd="4" destOrd="0" presId="urn:microsoft.com/office/officeart/2018/2/layout/IconLabelDescriptionList"/>
    <dgm:cxn modelId="{A291344B-B83F-402D-ADD7-1103609115BC}" type="presParOf" srcId="{D0A46BF0-7C4D-465C-B5E3-74A726751467}" destId="{AFEA7250-E524-4FCD-9CC6-8E22BA4DB9E2}" srcOrd="3" destOrd="0" presId="urn:microsoft.com/office/officeart/2018/2/layout/IconLabelDescriptionList"/>
    <dgm:cxn modelId="{649C533C-695C-4431-B2F6-23044A3146C9}" type="presParOf" srcId="{D0A46BF0-7C4D-465C-B5E3-74A726751467}" destId="{F6777B0B-21C3-4427-AF52-8AC194620D95}" srcOrd="4" destOrd="0" presId="urn:microsoft.com/office/officeart/2018/2/layout/IconLabelDescriptionList"/>
    <dgm:cxn modelId="{2F70C67C-0CE2-4DE4-819B-65DE1E424569}" type="presParOf" srcId="{F6777B0B-21C3-4427-AF52-8AC194620D95}" destId="{F3BC6A03-833D-431A-BBA9-C5B58B8B1981}" srcOrd="0" destOrd="0" presId="urn:microsoft.com/office/officeart/2018/2/layout/IconLabelDescriptionList"/>
    <dgm:cxn modelId="{552DA152-4BB4-478D-983F-D7217F7BA199}" type="presParOf" srcId="{F6777B0B-21C3-4427-AF52-8AC194620D95}" destId="{1DEEAABB-BD34-458A-8D38-42AE8D0CE3D3}" srcOrd="1" destOrd="0" presId="urn:microsoft.com/office/officeart/2018/2/layout/IconLabelDescriptionList"/>
    <dgm:cxn modelId="{65A2B92C-BAB9-422B-9450-D36470964F42}" type="presParOf" srcId="{F6777B0B-21C3-4427-AF52-8AC194620D95}" destId="{1FEB2BBC-F5E9-4DD5-BE0E-DCC4570960EF}" srcOrd="2" destOrd="0" presId="urn:microsoft.com/office/officeart/2018/2/layout/IconLabelDescriptionList"/>
    <dgm:cxn modelId="{6C5FAFB7-3D08-4CFB-8DBD-3FF8A743B56E}" type="presParOf" srcId="{F6777B0B-21C3-4427-AF52-8AC194620D95}" destId="{4159248C-2B05-4871-97B8-E497306F21AD}" srcOrd="3" destOrd="0" presId="urn:microsoft.com/office/officeart/2018/2/layout/IconLabelDescriptionList"/>
    <dgm:cxn modelId="{03DC5E0A-289D-435B-978B-B8F4C8FA3781}" type="presParOf" srcId="{F6777B0B-21C3-4427-AF52-8AC194620D95}" destId="{9AD968AA-868D-41E0-B813-2F0ABDDDC80C}" srcOrd="4" destOrd="0" presId="urn:microsoft.com/office/officeart/2018/2/layout/IconLabelDescriptionList"/>
    <dgm:cxn modelId="{0D769C8D-4D81-4313-BAD6-2919C12022E7}" type="presParOf" srcId="{D0A46BF0-7C4D-465C-B5E3-74A726751467}" destId="{8AF90AA2-F4BC-4748-858C-E02AD9686499}" srcOrd="5" destOrd="0" presId="urn:microsoft.com/office/officeart/2018/2/layout/IconLabelDescriptionList"/>
    <dgm:cxn modelId="{EC7436A9-507E-4629-9DD7-C5130D0825DD}" type="presParOf" srcId="{D0A46BF0-7C4D-465C-B5E3-74A726751467}" destId="{98B9E5FD-3C8B-467B-AEAB-C2DE83FAE018}" srcOrd="6" destOrd="0" presId="urn:microsoft.com/office/officeart/2018/2/layout/IconLabelDescriptionList"/>
    <dgm:cxn modelId="{B783B610-F8EA-4D79-93F5-95F80AA5A036}" type="presParOf" srcId="{98B9E5FD-3C8B-467B-AEAB-C2DE83FAE018}" destId="{3352120D-6BEB-4DF2-B486-0866C0DDF224}" srcOrd="0" destOrd="0" presId="urn:microsoft.com/office/officeart/2018/2/layout/IconLabelDescriptionList"/>
    <dgm:cxn modelId="{2214DCA1-5519-4F52-BFF8-0D8ABCD45D11}" type="presParOf" srcId="{98B9E5FD-3C8B-467B-AEAB-C2DE83FAE018}" destId="{B599DD6C-A6DC-4DB0-8517-E95385D49A98}" srcOrd="1" destOrd="0" presId="urn:microsoft.com/office/officeart/2018/2/layout/IconLabelDescriptionList"/>
    <dgm:cxn modelId="{96298757-F953-46DE-92C4-D2F26CACEB17}" type="presParOf" srcId="{98B9E5FD-3C8B-467B-AEAB-C2DE83FAE018}" destId="{0E257262-3153-4F1D-B7A7-CBCB7BB888AC}" srcOrd="2" destOrd="0" presId="urn:microsoft.com/office/officeart/2018/2/layout/IconLabelDescriptionList"/>
    <dgm:cxn modelId="{6D5DFC62-A3A9-4CCE-A0BD-A9B1142E5D20}" type="presParOf" srcId="{98B9E5FD-3C8B-467B-AEAB-C2DE83FAE018}" destId="{974F16CF-F551-4F26-9A1C-4176F5E575DC}" srcOrd="3" destOrd="0" presId="urn:microsoft.com/office/officeart/2018/2/layout/IconLabelDescriptionList"/>
    <dgm:cxn modelId="{2D3E4ABD-B7EF-4B8E-8238-57E708B9B9EA}" type="presParOf" srcId="{98B9E5FD-3C8B-467B-AEAB-C2DE83FAE018}" destId="{7548B2E5-24A0-47F9-9452-11D04C49CC86}" srcOrd="4" destOrd="0" presId="urn:microsoft.com/office/officeart/2018/2/layout/IconLabelDescriptionList"/>
    <dgm:cxn modelId="{22329744-F35F-47C0-943C-FDA2511C3228}" type="presParOf" srcId="{D0A46BF0-7C4D-465C-B5E3-74A726751467}" destId="{9F0A0201-D14C-4E06-8967-EBA5CCC2F6C7}" srcOrd="7" destOrd="0" presId="urn:microsoft.com/office/officeart/2018/2/layout/IconLabelDescriptionList"/>
    <dgm:cxn modelId="{1EA142FE-9690-4A49-B09D-0A9756BBD743}" type="presParOf" srcId="{D0A46BF0-7C4D-465C-B5E3-74A726751467}" destId="{3C2AE734-763E-46F7-ABFE-C3E1B757E331}" srcOrd="8" destOrd="0" presId="urn:microsoft.com/office/officeart/2018/2/layout/IconLabelDescriptionList"/>
    <dgm:cxn modelId="{85C81290-366C-4A2B-8976-E666A0FBADB1}" type="presParOf" srcId="{3C2AE734-763E-46F7-ABFE-C3E1B757E331}" destId="{E6733DF0-EE98-4FE5-B38D-D316263630B3}" srcOrd="0" destOrd="0" presId="urn:microsoft.com/office/officeart/2018/2/layout/IconLabelDescriptionList"/>
    <dgm:cxn modelId="{7A6991C0-54CD-41E8-8608-D55B72F7CDDA}" type="presParOf" srcId="{3C2AE734-763E-46F7-ABFE-C3E1B757E331}" destId="{8F387BAC-7248-4672-A825-F970A34F7A0C}" srcOrd="1" destOrd="0" presId="urn:microsoft.com/office/officeart/2018/2/layout/IconLabelDescriptionList"/>
    <dgm:cxn modelId="{D5E8A8DC-BA4C-4F99-83D5-AADCB237BD8D}" type="presParOf" srcId="{3C2AE734-763E-46F7-ABFE-C3E1B757E331}" destId="{F5186681-0921-4A1F-8D8D-22115856911E}" srcOrd="2" destOrd="0" presId="urn:microsoft.com/office/officeart/2018/2/layout/IconLabelDescriptionList"/>
    <dgm:cxn modelId="{73C5200A-B7CF-425F-BFDF-2EF1BA1AC88E}" type="presParOf" srcId="{3C2AE734-763E-46F7-ABFE-C3E1B757E331}" destId="{AA6141CF-3E12-44C4-9DE3-27729669C073}" srcOrd="3" destOrd="0" presId="urn:microsoft.com/office/officeart/2018/2/layout/IconLabelDescriptionList"/>
    <dgm:cxn modelId="{B92DF7BE-217F-4C79-ADDA-2E2066ED1569}" type="presParOf" srcId="{3C2AE734-763E-46F7-ABFE-C3E1B757E331}" destId="{C39CA5D5-FC83-4EF8-AAA5-ED10F1231512}"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287C85-88D4-4151-8301-B57120B0FCC2}">
      <dsp:nvSpPr>
        <dsp:cNvPr id="0" name=""/>
        <dsp:cNvSpPr/>
      </dsp:nvSpPr>
      <dsp:spPr>
        <a:xfrm>
          <a:off x="0" y="6264"/>
          <a:ext cx="11267439" cy="7959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EA4FD7-CB7B-43CB-8347-8921912F6DC8}">
      <dsp:nvSpPr>
        <dsp:cNvPr id="0" name=""/>
        <dsp:cNvSpPr/>
      </dsp:nvSpPr>
      <dsp:spPr>
        <a:xfrm>
          <a:off x="240789" y="185364"/>
          <a:ext cx="438226" cy="4377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D6AD12-7764-421F-9B7E-3B9335026F92}">
      <dsp:nvSpPr>
        <dsp:cNvPr id="0" name=""/>
        <dsp:cNvSpPr/>
      </dsp:nvSpPr>
      <dsp:spPr>
        <a:xfrm>
          <a:off x="919804" y="6264"/>
          <a:ext cx="10333470" cy="820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876" tIns="86876" rIns="86876" bIns="86876" numCol="1" spcCol="1270" anchor="ctr" anchorCtr="0">
          <a:noAutofit/>
        </a:bodyPr>
        <a:lstStyle/>
        <a:p>
          <a:pPr marL="0" lvl="0" indent="0" algn="l" defTabSz="666750">
            <a:lnSpc>
              <a:spcPct val="100000"/>
            </a:lnSpc>
            <a:spcBef>
              <a:spcPct val="0"/>
            </a:spcBef>
            <a:spcAft>
              <a:spcPct val="35000"/>
            </a:spcAft>
            <a:buNone/>
          </a:pPr>
          <a:r>
            <a:rPr lang="en-US" sz="1500" kern="1200" dirty="0"/>
            <a:t>The concept of data privacy has evolved significantly over the past few decades. Early privacy laws, such as the Swedish Personal Data Act (1998:204), aimed to protect personal integrity by restricting the processing of personal data without consent. </a:t>
          </a:r>
        </a:p>
      </dsp:txBody>
      <dsp:txXfrm>
        <a:off x="919804" y="6264"/>
        <a:ext cx="10333470" cy="820871"/>
      </dsp:txXfrm>
    </dsp:sp>
    <dsp:sp modelId="{673B6373-1EA1-4157-A5BD-87806CE6725B}">
      <dsp:nvSpPr>
        <dsp:cNvPr id="0" name=""/>
        <dsp:cNvSpPr/>
      </dsp:nvSpPr>
      <dsp:spPr>
        <a:xfrm>
          <a:off x="0" y="1032354"/>
          <a:ext cx="11267439" cy="7959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575039-390A-4BDB-A3C6-FA7C03AC8055}">
      <dsp:nvSpPr>
        <dsp:cNvPr id="0" name=""/>
        <dsp:cNvSpPr/>
      </dsp:nvSpPr>
      <dsp:spPr>
        <a:xfrm>
          <a:off x="240789" y="1211453"/>
          <a:ext cx="438226" cy="4377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E242E8-27EE-4F2A-B529-4FA2FEDE73BF}">
      <dsp:nvSpPr>
        <dsp:cNvPr id="0" name=""/>
        <dsp:cNvSpPr/>
      </dsp:nvSpPr>
      <dsp:spPr>
        <a:xfrm>
          <a:off x="919804" y="1032354"/>
          <a:ext cx="10333470" cy="820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876" tIns="86876" rIns="86876" bIns="86876" numCol="1" spcCol="1270" anchor="ctr" anchorCtr="0">
          <a:noAutofit/>
        </a:bodyPr>
        <a:lstStyle/>
        <a:p>
          <a:pPr marL="0" lvl="0" indent="0" algn="l" defTabSz="666750">
            <a:lnSpc>
              <a:spcPct val="100000"/>
            </a:lnSpc>
            <a:spcBef>
              <a:spcPct val="0"/>
            </a:spcBef>
            <a:spcAft>
              <a:spcPct val="35000"/>
            </a:spcAft>
            <a:buNone/>
          </a:pPr>
          <a:r>
            <a:rPr lang="en-US" sz="1500" kern="1200" dirty="0"/>
            <a:t>However, the rapid digitalization of society brought new challenges, as companies increasingly collected vast amounts of data for marketing and analytics purposes. This led to the introduction of the General Data Protection Regulation (GDPR) in 2018, which replaced the earlier Swedish law and established a comprehensive framework for data protection across the European Union. </a:t>
          </a:r>
        </a:p>
      </dsp:txBody>
      <dsp:txXfrm>
        <a:off x="919804" y="1032354"/>
        <a:ext cx="10333470" cy="820871"/>
      </dsp:txXfrm>
    </dsp:sp>
    <dsp:sp modelId="{B1C23859-CCFF-4A32-9BBF-5B5940A7D881}">
      <dsp:nvSpPr>
        <dsp:cNvPr id="0" name=""/>
        <dsp:cNvSpPr/>
      </dsp:nvSpPr>
      <dsp:spPr>
        <a:xfrm>
          <a:off x="0" y="2058444"/>
          <a:ext cx="11267439" cy="7959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51ADAD-403F-4D16-B483-3BBE4948FD89}">
      <dsp:nvSpPr>
        <dsp:cNvPr id="0" name=""/>
        <dsp:cNvSpPr/>
      </dsp:nvSpPr>
      <dsp:spPr>
        <a:xfrm>
          <a:off x="240789" y="2237543"/>
          <a:ext cx="438226" cy="4377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F04AAE-2EBB-4E03-A805-FB5E077092E1}">
      <dsp:nvSpPr>
        <dsp:cNvPr id="0" name=""/>
        <dsp:cNvSpPr/>
      </dsp:nvSpPr>
      <dsp:spPr>
        <a:xfrm>
          <a:off x="919804" y="2058444"/>
          <a:ext cx="10333470" cy="820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876" tIns="86876" rIns="86876" bIns="86876" numCol="1" spcCol="1270" anchor="ctr" anchorCtr="0">
          <a:noAutofit/>
        </a:bodyPr>
        <a:lstStyle/>
        <a:p>
          <a:pPr marL="0" lvl="0" indent="0" algn="l" defTabSz="666750">
            <a:lnSpc>
              <a:spcPct val="100000"/>
            </a:lnSpc>
            <a:spcBef>
              <a:spcPct val="0"/>
            </a:spcBef>
            <a:spcAft>
              <a:spcPct val="35000"/>
            </a:spcAft>
            <a:buNone/>
          </a:pPr>
          <a:r>
            <a:rPr lang="en-US" sz="1500" kern="1200" dirty="0"/>
            <a:t>GDPR was designed to give users more control over their personal data, requiring companies to obtain explicit consent before collecting, storing, or processing this data. It also introduced strict requirements for transparency, data minimization, and user rights, including the right to access, correct, and delete personal data. </a:t>
          </a:r>
        </a:p>
      </dsp:txBody>
      <dsp:txXfrm>
        <a:off x="919804" y="2058444"/>
        <a:ext cx="10333470" cy="820871"/>
      </dsp:txXfrm>
    </dsp:sp>
    <dsp:sp modelId="{5E06B5D2-1C72-4387-9BD3-86045B23B3DC}">
      <dsp:nvSpPr>
        <dsp:cNvPr id="0" name=""/>
        <dsp:cNvSpPr/>
      </dsp:nvSpPr>
      <dsp:spPr>
        <a:xfrm>
          <a:off x="0" y="3084533"/>
          <a:ext cx="11267439" cy="7959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F23ACA-D466-4B88-A800-2CCF3EF9B0F6}">
      <dsp:nvSpPr>
        <dsp:cNvPr id="0" name=""/>
        <dsp:cNvSpPr/>
      </dsp:nvSpPr>
      <dsp:spPr>
        <a:xfrm>
          <a:off x="240789" y="3263633"/>
          <a:ext cx="438226" cy="43779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15511E-2841-4D89-B7AB-AE0876A3B5DC}">
      <dsp:nvSpPr>
        <dsp:cNvPr id="0" name=""/>
        <dsp:cNvSpPr/>
      </dsp:nvSpPr>
      <dsp:spPr>
        <a:xfrm>
          <a:off x="919804" y="3084533"/>
          <a:ext cx="10333470" cy="820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876" tIns="86876" rIns="86876" bIns="86876" numCol="1" spcCol="1270" anchor="ctr" anchorCtr="0">
          <a:noAutofit/>
        </a:bodyPr>
        <a:lstStyle/>
        <a:p>
          <a:pPr marL="0" lvl="0" indent="0" algn="l" defTabSz="666750">
            <a:lnSpc>
              <a:spcPct val="100000"/>
            </a:lnSpc>
            <a:spcBef>
              <a:spcPct val="0"/>
            </a:spcBef>
            <a:spcAft>
              <a:spcPct val="35000"/>
            </a:spcAft>
            <a:buNone/>
          </a:pPr>
          <a:r>
            <a:rPr lang="en-US" sz="1500" kern="1200" dirty="0"/>
            <a:t>Despite these advancements, the digital landscape continues to evolve, creating new privacy risks and challenges, particularly with the rise of machine learning and AI technologies. </a:t>
          </a:r>
        </a:p>
      </dsp:txBody>
      <dsp:txXfrm>
        <a:off x="919804" y="3084533"/>
        <a:ext cx="10333470" cy="820871"/>
      </dsp:txXfrm>
    </dsp:sp>
    <dsp:sp modelId="{6F7C4F2E-11BC-4973-86AC-A055031154AE}">
      <dsp:nvSpPr>
        <dsp:cNvPr id="0" name=""/>
        <dsp:cNvSpPr/>
      </dsp:nvSpPr>
      <dsp:spPr>
        <a:xfrm>
          <a:off x="0" y="4110623"/>
          <a:ext cx="11267439" cy="7959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B0A306-C049-4D0B-9251-9B9356DF4992}">
      <dsp:nvSpPr>
        <dsp:cNvPr id="0" name=""/>
        <dsp:cNvSpPr/>
      </dsp:nvSpPr>
      <dsp:spPr>
        <a:xfrm>
          <a:off x="240789" y="4289722"/>
          <a:ext cx="438226" cy="43779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B27B1F-006A-4E92-A1F9-A7F1DE491000}">
      <dsp:nvSpPr>
        <dsp:cNvPr id="0" name=""/>
        <dsp:cNvSpPr/>
      </dsp:nvSpPr>
      <dsp:spPr>
        <a:xfrm>
          <a:off x="919804" y="4110623"/>
          <a:ext cx="10333470" cy="820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876" tIns="86876" rIns="86876" bIns="86876" numCol="1" spcCol="1270" anchor="ctr" anchorCtr="0">
          <a:noAutofit/>
        </a:bodyPr>
        <a:lstStyle/>
        <a:p>
          <a:pPr marL="0" lvl="0" indent="0" algn="l" defTabSz="666750">
            <a:lnSpc>
              <a:spcPct val="100000"/>
            </a:lnSpc>
            <a:spcBef>
              <a:spcPct val="0"/>
            </a:spcBef>
            <a:spcAft>
              <a:spcPct val="35000"/>
            </a:spcAft>
            <a:buNone/>
          </a:pPr>
          <a:r>
            <a:rPr lang="en-US" sz="1500" kern="1200" dirty="0"/>
            <a:t>This project seeks to address these emerging concerns by developing machine learning models that prioritize privacy, ensuring that user data is protected in an increasingly interconnected world.</a:t>
          </a:r>
        </a:p>
      </dsp:txBody>
      <dsp:txXfrm>
        <a:off x="919804" y="4110623"/>
        <a:ext cx="10333470" cy="8208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7990AC-38AC-49AC-BD20-FCB91D9DB48E}">
      <dsp:nvSpPr>
        <dsp:cNvPr id="0" name=""/>
        <dsp:cNvSpPr/>
      </dsp:nvSpPr>
      <dsp:spPr>
        <a:xfrm>
          <a:off x="11971" y="119366"/>
          <a:ext cx="704419" cy="6634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C6B89C6-3518-4BDF-8C6E-37FA237FC8A5}">
      <dsp:nvSpPr>
        <dsp:cNvPr id="0" name=""/>
        <dsp:cNvSpPr/>
      </dsp:nvSpPr>
      <dsp:spPr>
        <a:xfrm>
          <a:off x="11971" y="946488"/>
          <a:ext cx="2012625" cy="355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Scope of Research:</a:t>
          </a:r>
          <a:endParaRPr lang="en-US" sz="1400" kern="1200"/>
        </a:p>
      </dsp:txBody>
      <dsp:txXfrm>
        <a:off x="11971" y="946488"/>
        <a:ext cx="2012625" cy="355785"/>
      </dsp:txXfrm>
    </dsp:sp>
    <dsp:sp modelId="{E5D6A064-868E-4163-B69B-9BF6A5C1C2E2}">
      <dsp:nvSpPr>
        <dsp:cNvPr id="0" name=""/>
        <dsp:cNvSpPr/>
      </dsp:nvSpPr>
      <dsp:spPr>
        <a:xfrm>
          <a:off x="11971" y="1378384"/>
          <a:ext cx="2012625" cy="2546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dirty="0"/>
            <a:t>Privacy preservation using machine learning spans multiple disciplines, including computer science, data ethics, cybersecurity, and behavioral psychology.</a:t>
          </a:r>
        </a:p>
      </dsp:txBody>
      <dsp:txXfrm>
        <a:off x="11971" y="1378384"/>
        <a:ext cx="2012625" cy="2546490"/>
      </dsp:txXfrm>
    </dsp:sp>
    <dsp:sp modelId="{C87457B1-1B20-416D-B777-5BFD237EE17F}">
      <dsp:nvSpPr>
        <dsp:cNvPr id="0" name=""/>
        <dsp:cNvSpPr/>
      </dsp:nvSpPr>
      <dsp:spPr>
        <a:xfrm>
          <a:off x="2376806" y="119366"/>
          <a:ext cx="704419" cy="6634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0208E3-E5B2-44EC-8ECF-6DA4C385E4A2}">
      <dsp:nvSpPr>
        <dsp:cNvPr id="0" name=""/>
        <dsp:cNvSpPr/>
      </dsp:nvSpPr>
      <dsp:spPr>
        <a:xfrm>
          <a:off x="2376806" y="946488"/>
          <a:ext cx="2012625" cy="355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Key Areas of Focus:</a:t>
          </a:r>
          <a:endParaRPr lang="en-US" sz="1400" kern="1200"/>
        </a:p>
      </dsp:txBody>
      <dsp:txXfrm>
        <a:off x="2376806" y="946488"/>
        <a:ext cx="2012625" cy="355785"/>
      </dsp:txXfrm>
    </dsp:sp>
    <dsp:sp modelId="{B9560C85-F622-4C3A-9396-704FE4FA847B}">
      <dsp:nvSpPr>
        <dsp:cNvPr id="0" name=""/>
        <dsp:cNvSpPr/>
      </dsp:nvSpPr>
      <dsp:spPr>
        <a:xfrm>
          <a:off x="2376806" y="1378384"/>
          <a:ext cx="2012625" cy="2546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a:t>Detection of data breaches using machine learning algorithms.</a:t>
          </a:r>
        </a:p>
        <a:p>
          <a:pPr marL="0" lvl="0" indent="0" algn="l" defTabSz="666750">
            <a:lnSpc>
              <a:spcPct val="90000"/>
            </a:lnSpc>
            <a:spcBef>
              <a:spcPct val="0"/>
            </a:spcBef>
            <a:spcAft>
              <a:spcPct val="35000"/>
            </a:spcAft>
            <a:buNone/>
          </a:pPr>
          <a:r>
            <a:rPr lang="en-US" sz="1500" kern="1200"/>
            <a:t>Prevention of unauthorized data access through innovative privacy-preserving methods.</a:t>
          </a:r>
        </a:p>
        <a:p>
          <a:pPr marL="0" lvl="0" indent="0" algn="l" defTabSz="666750">
            <a:lnSpc>
              <a:spcPct val="90000"/>
            </a:lnSpc>
            <a:spcBef>
              <a:spcPct val="0"/>
            </a:spcBef>
            <a:spcAft>
              <a:spcPct val="35000"/>
            </a:spcAft>
            <a:buNone/>
          </a:pPr>
          <a:r>
            <a:rPr lang="en-US" sz="1500" kern="1200" dirty="0"/>
            <a:t>Enhancement of data privacy using advanced algorithms like differential privacy, homomorphic encryption, and federated learning.</a:t>
          </a:r>
        </a:p>
      </dsp:txBody>
      <dsp:txXfrm>
        <a:off x="2376806" y="1378384"/>
        <a:ext cx="2012625" cy="2546490"/>
      </dsp:txXfrm>
    </dsp:sp>
    <dsp:sp modelId="{F3BC6A03-833D-431A-BBA9-C5B58B8B1981}">
      <dsp:nvSpPr>
        <dsp:cNvPr id="0" name=""/>
        <dsp:cNvSpPr/>
      </dsp:nvSpPr>
      <dsp:spPr>
        <a:xfrm>
          <a:off x="4741642" y="119366"/>
          <a:ext cx="704419" cy="66348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FEB2BBC-F5E9-4DD5-BE0E-DCC4570960EF}">
      <dsp:nvSpPr>
        <dsp:cNvPr id="0" name=""/>
        <dsp:cNvSpPr/>
      </dsp:nvSpPr>
      <dsp:spPr>
        <a:xfrm>
          <a:off x="4741642" y="946488"/>
          <a:ext cx="2012625" cy="355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Ethical Considerations:</a:t>
          </a:r>
          <a:endParaRPr lang="en-US" sz="1400" kern="1200"/>
        </a:p>
      </dsp:txBody>
      <dsp:txXfrm>
        <a:off x="4741642" y="946488"/>
        <a:ext cx="2012625" cy="355785"/>
      </dsp:txXfrm>
    </dsp:sp>
    <dsp:sp modelId="{9AD968AA-868D-41E0-B813-2F0ABDDDC80C}">
      <dsp:nvSpPr>
        <dsp:cNvPr id="0" name=""/>
        <dsp:cNvSpPr/>
      </dsp:nvSpPr>
      <dsp:spPr>
        <a:xfrm>
          <a:off x="4741642" y="1378384"/>
          <a:ext cx="2012625" cy="2546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dirty="0"/>
            <a:t>Studies emphasize the need for transparency in data collection and processing.</a:t>
          </a:r>
        </a:p>
        <a:p>
          <a:pPr marL="0" lvl="0" indent="0" algn="l" defTabSz="666750">
            <a:lnSpc>
              <a:spcPct val="90000"/>
            </a:lnSpc>
            <a:spcBef>
              <a:spcPct val="0"/>
            </a:spcBef>
            <a:spcAft>
              <a:spcPct val="35000"/>
            </a:spcAft>
            <a:buNone/>
          </a:pPr>
          <a:r>
            <a:rPr lang="en-US" sz="1500" kern="1200" dirty="0"/>
            <a:t>Researchers have explored the ethical implications of using personal data for AI training.</a:t>
          </a:r>
        </a:p>
      </dsp:txBody>
      <dsp:txXfrm>
        <a:off x="4741642" y="1378384"/>
        <a:ext cx="2012625" cy="2546490"/>
      </dsp:txXfrm>
    </dsp:sp>
    <dsp:sp modelId="{3352120D-6BEB-4DF2-B486-0866C0DDF224}">
      <dsp:nvSpPr>
        <dsp:cNvPr id="0" name=""/>
        <dsp:cNvSpPr/>
      </dsp:nvSpPr>
      <dsp:spPr>
        <a:xfrm>
          <a:off x="7106477" y="119366"/>
          <a:ext cx="704419" cy="66348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E257262-3153-4F1D-B7A7-CBCB7BB888AC}">
      <dsp:nvSpPr>
        <dsp:cNvPr id="0" name=""/>
        <dsp:cNvSpPr/>
      </dsp:nvSpPr>
      <dsp:spPr>
        <a:xfrm>
          <a:off x="7106477" y="946488"/>
          <a:ext cx="2012625" cy="355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User Awareness and Behavior:</a:t>
          </a:r>
          <a:endParaRPr lang="en-US" sz="1400" kern="1200"/>
        </a:p>
      </dsp:txBody>
      <dsp:txXfrm>
        <a:off x="7106477" y="946488"/>
        <a:ext cx="2012625" cy="355785"/>
      </dsp:txXfrm>
    </dsp:sp>
    <dsp:sp modelId="{7548B2E5-24A0-47F9-9452-11D04C49CC86}">
      <dsp:nvSpPr>
        <dsp:cNvPr id="0" name=""/>
        <dsp:cNvSpPr/>
      </dsp:nvSpPr>
      <dsp:spPr>
        <a:xfrm>
          <a:off x="7106477" y="1378384"/>
          <a:ext cx="2012625" cy="2546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a:t>Research indicates that many users are unaware of how their data is being collected and used.</a:t>
          </a:r>
        </a:p>
        <a:p>
          <a:pPr marL="0" lvl="0" indent="0" algn="l" defTabSz="666750">
            <a:lnSpc>
              <a:spcPct val="90000"/>
            </a:lnSpc>
            <a:spcBef>
              <a:spcPct val="0"/>
            </a:spcBef>
            <a:spcAft>
              <a:spcPct val="35000"/>
            </a:spcAft>
            <a:buNone/>
          </a:pPr>
          <a:r>
            <a:rPr lang="en-US" sz="1500" kern="1200" dirty="0"/>
            <a:t>This lack of awareness highlights the importance of educating users about privacy risks and their rights.</a:t>
          </a:r>
        </a:p>
      </dsp:txBody>
      <dsp:txXfrm>
        <a:off x="7106477" y="1378384"/>
        <a:ext cx="2012625" cy="2546490"/>
      </dsp:txXfrm>
    </dsp:sp>
    <dsp:sp modelId="{E6733DF0-EE98-4FE5-B38D-D316263630B3}">
      <dsp:nvSpPr>
        <dsp:cNvPr id="0" name=""/>
        <dsp:cNvSpPr/>
      </dsp:nvSpPr>
      <dsp:spPr>
        <a:xfrm>
          <a:off x="9471312" y="119366"/>
          <a:ext cx="704419" cy="66348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5186681-0921-4A1F-8D8D-22115856911E}">
      <dsp:nvSpPr>
        <dsp:cNvPr id="0" name=""/>
        <dsp:cNvSpPr/>
      </dsp:nvSpPr>
      <dsp:spPr>
        <a:xfrm>
          <a:off x="9471312" y="946488"/>
          <a:ext cx="2012625" cy="355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Impact on Privacy Technologies:</a:t>
          </a:r>
          <a:endParaRPr lang="en-US" sz="1400" kern="1200"/>
        </a:p>
      </dsp:txBody>
      <dsp:txXfrm>
        <a:off x="9471312" y="946488"/>
        <a:ext cx="2012625" cy="355785"/>
      </dsp:txXfrm>
    </dsp:sp>
    <dsp:sp modelId="{C39CA5D5-FC83-4EF8-AAA5-ED10F1231512}">
      <dsp:nvSpPr>
        <dsp:cNvPr id="0" name=""/>
        <dsp:cNvSpPr/>
      </dsp:nvSpPr>
      <dsp:spPr>
        <a:xfrm>
          <a:off x="9471312" y="1378384"/>
          <a:ext cx="2012625" cy="2546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dirty="0"/>
            <a:t>The findings from these studies have contributed to the development of privacy-preserving machine learning technologies, shaping current best practices and guidelines.</a:t>
          </a:r>
        </a:p>
      </dsp:txBody>
      <dsp:txXfrm>
        <a:off x="9471312" y="1378384"/>
        <a:ext cx="2012625" cy="254649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5/20/2025</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5/20/2025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972850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dirty="0"/>
          </a:p>
        </p:txBody>
      </p:sp>
    </p:spTree>
    <p:extLst>
      <p:ext uri="{BB962C8B-B14F-4D97-AF65-F5344CB8AC3E}">
        <p14:creationId xmlns:p14="http://schemas.microsoft.com/office/powerpoint/2010/main" val="3690289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D2E5A-F59D-E1FB-8CB8-EF3D97487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E2D8B-5EF2-6CE3-4F22-12E247DDF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2C505B-E52D-C3BB-6E1F-EC002F2443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E5678A-A7EE-6692-005B-C1AD7C2C8C5E}"/>
              </a:ext>
            </a:extLst>
          </p:cNvPr>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4080197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013CC-F48A-45E9-D4AB-5BCA10E11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CF911-3CAE-D418-36FC-7C0AAAB42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E5AA29-3AA2-503A-2343-6A07C3C202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BF9722-0DD5-5C23-B6AD-B2000BADF2E6}"/>
              </a:ext>
            </a:extLst>
          </p:cNvPr>
          <p:cNvSpPr>
            <a:spLocks noGrp="1"/>
          </p:cNvSpPr>
          <p:nvPr>
            <p:ph type="sldNum" sz="quarter" idx="5"/>
          </p:nvPr>
        </p:nvSpPr>
        <p:spPr/>
        <p:txBody>
          <a:bodyPr/>
          <a:lstStyle/>
          <a:p>
            <a:fld id="{B63359F2-43EF-4812-9DC0-98C0B1A40681}" type="slidenum">
              <a:rPr lang="en-US" smtClean="0"/>
              <a:t>5</a:t>
            </a:fld>
            <a:endParaRPr lang="en-US" dirty="0"/>
          </a:p>
        </p:txBody>
      </p:sp>
    </p:spTree>
    <p:extLst>
      <p:ext uri="{BB962C8B-B14F-4D97-AF65-F5344CB8AC3E}">
        <p14:creationId xmlns:p14="http://schemas.microsoft.com/office/powerpoint/2010/main" val="2743267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ADC9F-A6F6-D130-8FE0-E62E3CB36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9260E-2787-D094-06AC-23D177DCA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8FA81-BABE-79A1-297C-70EC2DEF40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39C6E7-3760-5D0D-7ADF-12BFF6710774}"/>
              </a:ext>
            </a:extLst>
          </p:cNvPr>
          <p:cNvSpPr>
            <a:spLocks noGrp="1"/>
          </p:cNvSpPr>
          <p:nvPr>
            <p:ph type="sldNum" sz="quarter" idx="5"/>
          </p:nvPr>
        </p:nvSpPr>
        <p:spPr/>
        <p:txBody>
          <a:bodyPr/>
          <a:lstStyle/>
          <a:p>
            <a:fld id="{B63359F2-43EF-4812-9DC0-98C0B1A40681}" type="slidenum">
              <a:rPr lang="en-US" smtClean="0"/>
              <a:t>6</a:t>
            </a:fld>
            <a:endParaRPr lang="en-US" dirty="0"/>
          </a:p>
        </p:txBody>
      </p:sp>
    </p:spTree>
    <p:extLst>
      <p:ext uri="{BB962C8B-B14F-4D97-AF65-F5344CB8AC3E}">
        <p14:creationId xmlns:p14="http://schemas.microsoft.com/office/powerpoint/2010/main" val="3546844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7</a:t>
            </a:fld>
            <a:endParaRPr lang="en-US" dirty="0"/>
          </a:p>
        </p:txBody>
      </p:sp>
    </p:spTree>
    <p:extLst>
      <p:ext uri="{BB962C8B-B14F-4D97-AF65-F5344CB8AC3E}">
        <p14:creationId xmlns:p14="http://schemas.microsoft.com/office/powerpoint/2010/main" val="990704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1DC1E-19BD-5962-5D0B-1373FC799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4A9B2E-477C-8017-D312-6E127B85F1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AA775-B029-116E-898F-D719B15556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19AB79-FC29-123D-9C2D-DE66B696DD99}"/>
              </a:ext>
            </a:extLst>
          </p:cNvPr>
          <p:cNvSpPr>
            <a:spLocks noGrp="1"/>
          </p:cNvSpPr>
          <p:nvPr>
            <p:ph type="sldNum" sz="quarter" idx="5"/>
          </p:nvPr>
        </p:nvSpPr>
        <p:spPr/>
        <p:txBody>
          <a:bodyPr/>
          <a:lstStyle/>
          <a:p>
            <a:fld id="{B63359F2-43EF-4812-9DC0-98C0B1A40681}" type="slidenum">
              <a:rPr lang="en-US" smtClean="0"/>
              <a:t>8</a:t>
            </a:fld>
            <a:endParaRPr lang="en-US" dirty="0"/>
          </a:p>
        </p:txBody>
      </p:sp>
    </p:spTree>
    <p:extLst>
      <p:ext uri="{BB962C8B-B14F-4D97-AF65-F5344CB8AC3E}">
        <p14:creationId xmlns:p14="http://schemas.microsoft.com/office/powerpoint/2010/main" val="1100746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26E2F-5B6D-D07B-B364-95931A6DD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E7809-9D46-6AB7-5401-3CB72AEEBA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F350E-3908-B307-D68D-C8698BD48E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080523-2042-1D77-2BA4-6ECAB89DE2D7}"/>
              </a:ext>
            </a:extLst>
          </p:cNvPr>
          <p:cNvSpPr>
            <a:spLocks noGrp="1"/>
          </p:cNvSpPr>
          <p:nvPr>
            <p:ph type="sldNum" sz="quarter" idx="5"/>
          </p:nvPr>
        </p:nvSpPr>
        <p:spPr/>
        <p:txBody>
          <a:bodyPr/>
          <a:lstStyle/>
          <a:p>
            <a:fld id="{B63359F2-43EF-4812-9DC0-98C0B1A40681}" type="slidenum">
              <a:rPr lang="en-US" smtClean="0"/>
              <a:t>9</a:t>
            </a:fld>
            <a:endParaRPr lang="en-US" dirty="0"/>
          </a:p>
        </p:txBody>
      </p:sp>
    </p:spTree>
    <p:extLst>
      <p:ext uri="{BB962C8B-B14F-4D97-AF65-F5344CB8AC3E}">
        <p14:creationId xmlns:p14="http://schemas.microsoft.com/office/powerpoint/2010/main" val="30045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273E-ACB0-57FF-327E-E432890B1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B4D65-7BF1-DDD4-CCB7-1113D4D5F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99270-189C-A959-604B-E2DECAB9C7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7AE623-49F8-ACFD-3CCC-6EA947A9846A}"/>
              </a:ext>
            </a:extLst>
          </p:cNvPr>
          <p:cNvSpPr>
            <a:spLocks noGrp="1"/>
          </p:cNvSpPr>
          <p:nvPr>
            <p:ph type="sldNum" sz="quarter" idx="5"/>
          </p:nvPr>
        </p:nvSpPr>
        <p:spPr/>
        <p:txBody>
          <a:bodyPr/>
          <a:lstStyle/>
          <a:p>
            <a:fld id="{B63359F2-43EF-4812-9DC0-98C0B1A40681}" type="slidenum">
              <a:rPr lang="en-US" smtClean="0"/>
              <a:t>10</a:t>
            </a:fld>
            <a:endParaRPr lang="en-US" dirty="0"/>
          </a:p>
        </p:txBody>
      </p:sp>
    </p:spTree>
    <p:extLst>
      <p:ext uri="{BB962C8B-B14F-4D97-AF65-F5344CB8AC3E}">
        <p14:creationId xmlns:p14="http://schemas.microsoft.com/office/powerpoint/2010/main" val="356181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56BB6-BD9E-E309-0B8E-2AD248C9A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A9B85-D917-782F-D910-833C6E5E9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2BEF6-00CD-0312-2C97-F5F8ED31D4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33A5BA-49FA-E741-CCB9-866F5B60D680}"/>
              </a:ext>
            </a:extLst>
          </p:cNvPr>
          <p:cNvSpPr>
            <a:spLocks noGrp="1"/>
          </p:cNvSpPr>
          <p:nvPr>
            <p:ph type="sldNum" sz="quarter" idx="5"/>
          </p:nvPr>
        </p:nvSpPr>
        <p:spPr/>
        <p:txBody>
          <a:bodyPr/>
          <a:lstStyle/>
          <a:p>
            <a:fld id="{B63359F2-43EF-4812-9DC0-98C0B1A40681}" type="slidenum">
              <a:rPr lang="en-US" smtClean="0"/>
              <a:t>12</a:t>
            </a:fld>
            <a:endParaRPr lang="en-US" dirty="0"/>
          </a:p>
        </p:txBody>
      </p:sp>
    </p:spTree>
    <p:extLst>
      <p:ext uri="{BB962C8B-B14F-4D97-AF65-F5344CB8AC3E}">
        <p14:creationId xmlns:p14="http://schemas.microsoft.com/office/powerpoint/2010/main" val="2279841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76905-47BA-E4FB-5AC2-13C6EFBC0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72EA2-642C-54E0-6922-1961EA573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581B1-1AAD-019B-57DE-B81C528AA9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E81A2E-606D-CA3F-6661-275C6C3E7EED}"/>
              </a:ext>
            </a:extLst>
          </p:cNvPr>
          <p:cNvSpPr>
            <a:spLocks noGrp="1"/>
          </p:cNvSpPr>
          <p:nvPr>
            <p:ph type="sldNum" sz="quarter" idx="5"/>
          </p:nvPr>
        </p:nvSpPr>
        <p:spPr/>
        <p:txBody>
          <a:bodyPr/>
          <a:lstStyle/>
          <a:p>
            <a:fld id="{B63359F2-43EF-4812-9DC0-98C0B1A40681}" type="slidenum">
              <a:rPr lang="en-US" smtClean="0"/>
              <a:t>13</a:t>
            </a:fld>
            <a:endParaRPr lang="en-US" dirty="0"/>
          </a:p>
        </p:txBody>
      </p:sp>
    </p:spTree>
    <p:extLst>
      <p:ext uri="{BB962C8B-B14F-4D97-AF65-F5344CB8AC3E}">
        <p14:creationId xmlns:p14="http://schemas.microsoft.com/office/powerpoint/2010/main" val="2080562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E0EE2-CF47-6FEA-0A3E-E3A7A7F59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63085-7708-566D-0F81-2AD2D0A84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54DAB-ABCB-6144-ADA9-8B1DC877C0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5847FA-F899-10A4-3D55-14E63FE4CA22}"/>
              </a:ext>
            </a:extLst>
          </p:cNvPr>
          <p:cNvSpPr>
            <a:spLocks noGrp="1"/>
          </p:cNvSpPr>
          <p:nvPr>
            <p:ph type="sldNum" sz="quarter" idx="5"/>
          </p:nvPr>
        </p:nvSpPr>
        <p:spPr/>
        <p:txBody>
          <a:bodyPr/>
          <a:lstStyle/>
          <a:p>
            <a:fld id="{B63359F2-43EF-4812-9DC0-98C0B1A40681}" type="slidenum">
              <a:rPr lang="en-US" smtClean="0"/>
              <a:t>14</a:t>
            </a:fld>
            <a:endParaRPr lang="en-US" dirty="0"/>
          </a:p>
        </p:txBody>
      </p:sp>
    </p:spTree>
    <p:extLst>
      <p:ext uri="{BB962C8B-B14F-4D97-AF65-F5344CB8AC3E}">
        <p14:creationId xmlns:p14="http://schemas.microsoft.com/office/powerpoint/2010/main" val="1308204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612C6-5220-2CA2-6816-34FC9EE96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BB25AB-34D6-D159-6C14-C5EC4DFFF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7723E3-13C3-812B-3C79-E5C4CFF175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32FCCB-4B87-E75B-8E41-5047FF407095}"/>
              </a:ext>
            </a:extLst>
          </p:cNvPr>
          <p:cNvSpPr>
            <a:spLocks noGrp="1"/>
          </p:cNvSpPr>
          <p:nvPr>
            <p:ph type="sldNum" sz="quarter" idx="5"/>
          </p:nvPr>
        </p:nvSpPr>
        <p:spPr/>
        <p:txBody>
          <a:bodyPr/>
          <a:lstStyle/>
          <a:p>
            <a:fld id="{B63359F2-43EF-4812-9DC0-98C0B1A40681}" type="slidenum">
              <a:rPr lang="en-US" smtClean="0"/>
              <a:t>15</a:t>
            </a:fld>
            <a:endParaRPr lang="en-US" dirty="0"/>
          </a:p>
        </p:txBody>
      </p:sp>
    </p:spTree>
    <p:extLst>
      <p:ext uri="{BB962C8B-B14F-4D97-AF65-F5344CB8AC3E}">
        <p14:creationId xmlns:p14="http://schemas.microsoft.com/office/powerpoint/2010/main" val="2384045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AA3C5-F5C6-9BD1-4D23-F595A339C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83B56-814B-B314-254C-A1C5B50EC2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AA9F1-7EAF-7A3E-25F1-9132EF5068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CE66EC-DB2A-3C81-1C87-7BF26522B006}"/>
              </a:ext>
            </a:extLst>
          </p:cNvPr>
          <p:cNvSpPr>
            <a:spLocks noGrp="1"/>
          </p:cNvSpPr>
          <p:nvPr>
            <p:ph type="sldNum" sz="quarter" idx="5"/>
          </p:nvPr>
        </p:nvSpPr>
        <p:spPr/>
        <p:txBody>
          <a:bodyPr/>
          <a:lstStyle/>
          <a:p>
            <a:fld id="{B63359F2-43EF-4812-9DC0-98C0B1A40681}" type="slidenum">
              <a:rPr lang="en-US" smtClean="0"/>
              <a:t>16</a:t>
            </a:fld>
            <a:endParaRPr lang="en-US" dirty="0"/>
          </a:p>
        </p:txBody>
      </p:sp>
    </p:spTree>
    <p:extLst>
      <p:ext uri="{BB962C8B-B14F-4D97-AF65-F5344CB8AC3E}">
        <p14:creationId xmlns:p14="http://schemas.microsoft.com/office/powerpoint/2010/main" val="2155402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8FA58-843A-5914-0EE9-8E9F1B433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2B9BE-F004-1ACF-9ACB-AE43EEF876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50607-8C73-4B84-6AE0-E1826DA291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804D42-42C1-5227-3F44-F61519BE47E8}"/>
              </a:ext>
            </a:extLst>
          </p:cNvPr>
          <p:cNvSpPr>
            <a:spLocks noGrp="1"/>
          </p:cNvSpPr>
          <p:nvPr>
            <p:ph type="sldNum" sz="quarter" idx="5"/>
          </p:nvPr>
        </p:nvSpPr>
        <p:spPr/>
        <p:txBody>
          <a:bodyPr/>
          <a:lstStyle/>
          <a:p>
            <a:fld id="{B63359F2-43EF-4812-9DC0-98C0B1A40681}" type="slidenum">
              <a:rPr lang="en-US" smtClean="0"/>
              <a:t>17</a:t>
            </a:fld>
            <a:endParaRPr lang="en-US" dirty="0"/>
          </a:p>
        </p:txBody>
      </p:sp>
    </p:spTree>
    <p:extLst>
      <p:ext uri="{BB962C8B-B14F-4D97-AF65-F5344CB8AC3E}">
        <p14:creationId xmlns:p14="http://schemas.microsoft.com/office/powerpoint/2010/main" val="1180833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40476-0B81-A574-48F0-0CE2BE8E9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6EA66-103A-7F90-5797-A83E34DF71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FCCC9-736F-A3B2-2BB6-141EFB80CD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A883D0-140B-09D3-28F7-0B8BC7785482}"/>
              </a:ext>
            </a:extLst>
          </p:cNvPr>
          <p:cNvSpPr>
            <a:spLocks noGrp="1"/>
          </p:cNvSpPr>
          <p:nvPr>
            <p:ph type="sldNum" sz="quarter" idx="5"/>
          </p:nvPr>
        </p:nvSpPr>
        <p:spPr/>
        <p:txBody>
          <a:bodyPr/>
          <a:lstStyle/>
          <a:p>
            <a:fld id="{B63359F2-43EF-4812-9DC0-98C0B1A40681}" type="slidenum">
              <a:rPr lang="en-US" smtClean="0"/>
              <a:t>18</a:t>
            </a:fld>
            <a:endParaRPr lang="en-US" dirty="0"/>
          </a:p>
        </p:txBody>
      </p:sp>
    </p:spTree>
    <p:extLst>
      <p:ext uri="{BB962C8B-B14F-4D97-AF65-F5344CB8AC3E}">
        <p14:creationId xmlns:p14="http://schemas.microsoft.com/office/powerpoint/2010/main" val="3900154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CA1E7-8D67-5609-3AEA-9F97B75FD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C8236-0D07-8939-FB7D-40A3AF929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B92DC-5D4B-C1D6-E515-443F34BAF6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892B72-D012-7EEB-DBDD-B51B4023AEB4}"/>
              </a:ext>
            </a:extLst>
          </p:cNvPr>
          <p:cNvSpPr>
            <a:spLocks noGrp="1"/>
          </p:cNvSpPr>
          <p:nvPr>
            <p:ph type="sldNum" sz="quarter" idx="5"/>
          </p:nvPr>
        </p:nvSpPr>
        <p:spPr/>
        <p:txBody>
          <a:bodyPr/>
          <a:lstStyle/>
          <a:p>
            <a:fld id="{B63359F2-43EF-4812-9DC0-98C0B1A40681}" type="slidenum">
              <a:rPr lang="en-US" smtClean="0"/>
              <a:t>19</a:t>
            </a:fld>
            <a:endParaRPr lang="en-US" dirty="0"/>
          </a:p>
        </p:txBody>
      </p:sp>
    </p:spTree>
    <p:extLst>
      <p:ext uri="{BB962C8B-B14F-4D97-AF65-F5344CB8AC3E}">
        <p14:creationId xmlns:p14="http://schemas.microsoft.com/office/powerpoint/2010/main" val="35492636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20</a:t>
            </a:fld>
            <a:endParaRPr lang="en-US" dirty="0"/>
          </a:p>
        </p:txBody>
      </p:sp>
    </p:spTree>
    <p:extLst>
      <p:ext uri="{BB962C8B-B14F-4D97-AF65-F5344CB8AC3E}">
        <p14:creationId xmlns:p14="http://schemas.microsoft.com/office/powerpoint/2010/main" val="1657027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22819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r>
              <a:rPr lang="en-US"/>
              <a:t>Click to edit Master title style</a:t>
            </a:r>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3417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troduction bottom">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9CC542F-D03C-4537-9B6E-7F653B651524}"/>
              </a:ext>
            </a:extLst>
          </p:cNvPr>
          <p:cNvSpPr>
            <a:spLocks noGrp="1"/>
          </p:cNvSpPr>
          <p:nvPr>
            <p:ph type="title" hasCustomPrompt="1"/>
          </p:nvPr>
        </p:nvSpPr>
        <p:spPr>
          <a:xfrm>
            <a:off x="457200" y="2878091"/>
            <a:ext cx="3729789" cy="3440485"/>
          </a:xfrm>
        </p:spPr>
        <p:txBody>
          <a:bodyPr tIns="182880" bIns="182880" anchor="ctr" anchorCtr="0">
            <a:noAutofit/>
          </a:bodyPr>
          <a:lstStyle/>
          <a:p>
            <a:r>
              <a:rPr lang="en-US" dirty="0"/>
              <a:t>Click to add title</a:t>
            </a:r>
            <a:endParaRPr lang="en-US" dirty="0">
              <a:solidFill>
                <a:schemeClr val="tx2"/>
              </a:solidFill>
            </a:endParaRPr>
          </a:p>
        </p:txBody>
      </p:sp>
      <p:sp>
        <p:nvSpPr>
          <p:cNvPr id="3" name="Picture Placeholder 2">
            <a:extLst>
              <a:ext uri="{FF2B5EF4-FFF2-40B4-BE49-F238E27FC236}">
                <a16:creationId xmlns:a16="http://schemas.microsoft.com/office/drawing/2014/main" id="{130F1D2B-CBE7-6279-2158-7A9F3B5D5C61}"/>
              </a:ext>
            </a:extLst>
          </p:cNvPr>
          <p:cNvSpPr>
            <a:spLocks noGrp="1"/>
          </p:cNvSpPr>
          <p:nvPr>
            <p:ph type="pic" sz="quarter" idx="19" hasCustomPrompt="1"/>
          </p:nvPr>
        </p:nvSpPr>
        <p:spPr>
          <a:xfrm>
            <a:off x="457200" y="670560"/>
            <a:ext cx="11267440" cy="2139696"/>
          </a:xfrm>
          <a:custGeom>
            <a:avLst/>
            <a:gdLst>
              <a:gd name="connsiteX0" fmla="*/ 3783068 w 11267440"/>
              <a:gd name="connsiteY0" fmla="*/ 0 h 2139696"/>
              <a:gd name="connsiteX1" fmla="*/ 11267440 w 11267440"/>
              <a:gd name="connsiteY1" fmla="*/ 0 h 2139696"/>
              <a:gd name="connsiteX2" fmla="*/ 11267440 w 11267440"/>
              <a:gd name="connsiteY2" fmla="*/ 2139696 h 2139696"/>
              <a:gd name="connsiteX3" fmla="*/ 3783068 w 11267440"/>
              <a:gd name="connsiteY3" fmla="*/ 2139696 h 2139696"/>
              <a:gd name="connsiteX4" fmla="*/ 0 w 11267440"/>
              <a:gd name="connsiteY4" fmla="*/ 0 h 2139696"/>
              <a:gd name="connsiteX5" fmla="*/ 3677799 w 11267440"/>
              <a:gd name="connsiteY5" fmla="*/ 0 h 2139696"/>
              <a:gd name="connsiteX6" fmla="*/ 3677799 w 11267440"/>
              <a:gd name="connsiteY6" fmla="*/ 2139696 h 2139696"/>
              <a:gd name="connsiteX7" fmla="*/ 0 w 11267440"/>
              <a:gd name="connsiteY7" fmla="*/ 2139696 h 213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7440" h="2139696">
                <a:moveTo>
                  <a:pt x="3783068" y="0"/>
                </a:moveTo>
                <a:lnTo>
                  <a:pt x="11267440" y="0"/>
                </a:lnTo>
                <a:lnTo>
                  <a:pt x="11267440" y="2139696"/>
                </a:lnTo>
                <a:lnTo>
                  <a:pt x="3783068" y="2139696"/>
                </a:lnTo>
                <a:close/>
                <a:moveTo>
                  <a:pt x="0" y="0"/>
                </a:moveTo>
                <a:lnTo>
                  <a:pt x="3677799" y="0"/>
                </a:lnTo>
                <a:lnTo>
                  <a:pt x="3677799" y="2139696"/>
                </a:lnTo>
                <a:lnTo>
                  <a:pt x="0" y="213969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7" name="Content Placeholder 5">
            <a:extLst>
              <a:ext uri="{FF2B5EF4-FFF2-40B4-BE49-F238E27FC236}">
                <a16:creationId xmlns:a16="http://schemas.microsoft.com/office/drawing/2014/main" id="{135EE74D-5A60-B83C-5C2D-7B6FEA778FCB}"/>
              </a:ext>
            </a:extLst>
          </p:cNvPr>
          <p:cNvSpPr>
            <a:spLocks noGrp="1"/>
          </p:cNvSpPr>
          <p:nvPr>
            <p:ph sz="quarter" idx="4" hasCustomPrompt="1"/>
          </p:nvPr>
        </p:nvSpPr>
        <p:spPr>
          <a:xfrm>
            <a:off x="4305827" y="2878091"/>
            <a:ext cx="7418813" cy="3440485"/>
          </a:xfrm>
        </p:spPr>
        <p:txBody>
          <a:bodyPr anchor="ctr" anchorCtr="0">
            <a:normAutofit/>
          </a:bodyPr>
          <a:lstStyle>
            <a:lvl1pPr marL="283464" indent="-283464">
              <a:buFont typeface="Arial" panose="020B0604020202020204" pitchFamily="34" charset="0"/>
              <a:buChar char="•"/>
              <a:defRPr/>
            </a:lvl1pPr>
            <a:lvl2pPr marL="283464" indent="-283464">
              <a:buFont typeface="Arial" panose="020B0604020202020204" pitchFamily="34" charset="0"/>
              <a:buChar char="•"/>
              <a:defRPr/>
            </a:lvl2pPr>
            <a:lvl3pPr marL="283464" indent="-283464">
              <a:buFont typeface="Arial" panose="020B0604020202020204" pitchFamily="34" charset="0"/>
              <a:buChar char="•"/>
              <a:defRPr/>
            </a:lvl3pPr>
            <a:lvl4pPr marL="283464" indent="-283464">
              <a:buFont typeface="Arial" panose="020B0604020202020204" pitchFamily="34" charset="0"/>
              <a:buChar char="•"/>
              <a:defRPr/>
            </a:lvl4pPr>
            <a:lvl5pPr marL="283464" indent="-283464">
              <a:buFont typeface="Arial" panose="020B0604020202020204" pitchFamily="34" charset="0"/>
              <a:buChar char="•"/>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2BCF1FAD-0BAD-2574-3352-B152DF76C150}"/>
              </a:ext>
            </a:extLst>
          </p:cNvPr>
          <p:cNvSpPr>
            <a:spLocks noGrp="1"/>
          </p:cNvSpPr>
          <p:nvPr>
            <p:ph type="ftr" sz="quarter" idx="17"/>
          </p:nvPr>
        </p:nvSpPr>
        <p:spPr/>
        <p:txBody>
          <a:bodyPr/>
          <a:lstStyle/>
          <a:p>
            <a:endParaRPr lang="en-US" dirty="0"/>
          </a:p>
        </p:txBody>
      </p:sp>
      <p:sp>
        <p:nvSpPr>
          <p:cNvPr id="9" name="Date Placeholder 8">
            <a:extLst>
              <a:ext uri="{FF2B5EF4-FFF2-40B4-BE49-F238E27FC236}">
                <a16:creationId xmlns:a16="http://schemas.microsoft.com/office/drawing/2014/main" id="{EC328E41-645E-D257-FFF3-93344A8E4FA5}"/>
              </a:ext>
            </a:extLst>
          </p:cNvPr>
          <p:cNvSpPr>
            <a:spLocks noGrp="1"/>
          </p:cNvSpPr>
          <p:nvPr>
            <p:ph type="dt" sz="half" idx="16"/>
          </p:nvPr>
        </p:nvSpPr>
        <p:spPr/>
        <p:txBody>
          <a:bodyPr/>
          <a:lstStyle/>
          <a:p>
            <a:r>
              <a:rPr lang="en-US"/>
              <a:t>20XX</a:t>
            </a:r>
            <a:endParaRPr lang="en-US" dirty="0"/>
          </a:p>
        </p:txBody>
      </p:sp>
      <p:sp>
        <p:nvSpPr>
          <p:cNvPr id="14" name="Slide Number Placeholder 13">
            <a:extLst>
              <a:ext uri="{FF2B5EF4-FFF2-40B4-BE49-F238E27FC236}">
                <a16:creationId xmlns:a16="http://schemas.microsoft.com/office/drawing/2014/main" id="{DEF9E45A-6561-C074-14CE-B3B63476D221}"/>
              </a:ext>
            </a:extLst>
          </p:cNvPr>
          <p:cNvSpPr>
            <a:spLocks noGrp="1"/>
          </p:cNvSpPr>
          <p:nvPr>
            <p:ph type="sldNum" sz="quarter" idx="18"/>
          </p:nvPr>
        </p:nvSpPr>
        <p:spPr>
          <a:xfrm>
            <a:off x="10672130"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48583640"/>
      </p:ext>
    </p:extLst>
  </p:cSld>
  <p:clrMapOvr>
    <a:masterClrMapping/>
  </p:clrMapOvr>
  <p:extLst>
    <p:ext uri="{DCECCB84-F9BA-43D5-87BE-67443E8EF086}">
      <p15:sldGuideLst xmlns:p15="http://schemas.microsoft.com/office/powerpoint/2012/main">
        <p15:guide id="1" orient="horz">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129685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9" name="Content Placeholder 3">
            <a:extLst>
              <a:ext uri="{FF2B5EF4-FFF2-40B4-BE49-F238E27FC236}">
                <a16:creationId xmlns:a16="http://schemas.microsoft.com/office/drawing/2014/main" id="{ECA520B1-DC84-A47D-1F5E-CCD567EB2D86}"/>
              </a:ext>
            </a:extLst>
          </p:cNvPr>
          <p:cNvSpPr>
            <a:spLocks noGrp="1"/>
          </p:cNvSpPr>
          <p:nvPr>
            <p:ph sz="half" idx="13" hasCustomPrompt="1"/>
          </p:nvPr>
        </p:nvSpPr>
        <p:spPr>
          <a:xfrm>
            <a:off x="457200" y="2187362"/>
            <a:ext cx="3657600" cy="3633047"/>
          </a:xfrm>
        </p:spPr>
        <p:txBody>
          <a:bodyPr anchor="t">
            <a:normAutofit/>
          </a:bodyPr>
          <a:lstStyle>
            <a:lvl1pPr marL="34290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282437" y="2187361"/>
            <a:ext cx="744220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9833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5" r:id="rId14"/>
    <p:sldLayoutId id="2147483816" r:id="rId15"/>
    <p:sldLayoutId id="2147483817" r:id="rId16"/>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31.jpeg"/></Relationships>
</file>

<file path=ppt/slides/_rels/slide1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3" name="Rectangle 1032">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5" name="Rectangle 1034">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7" name="Rectangle 1036">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9" name="Rectangle 1038">
            <a:extLst>
              <a:ext uri="{FF2B5EF4-FFF2-40B4-BE49-F238E27FC236}">
                <a16:creationId xmlns:a16="http://schemas.microsoft.com/office/drawing/2014/main" id="{E08D4B6A-8113-4DFB-B82E-B60CAC8E0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41" name="Rectangle 1040">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a:xfrm>
            <a:off x="482442" y="1085134"/>
            <a:ext cx="3823588" cy="3338149"/>
          </a:xfrm>
        </p:spPr>
        <p:txBody>
          <a:bodyPr vert="horz" lIns="91440" tIns="45720" rIns="91440" bIns="45720" rtlCol="0" anchor="ctr">
            <a:normAutofit/>
          </a:bodyPr>
          <a:lstStyle/>
          <a:p>
            <a:r>
              <a:rPr lang="en-US" sz="3600" b="1" dirty="0">
                <a:solidFill>
                  <a:schemeClr val="tx1"/>
                </a:solidFill>
              </a:rPr>
              <a:t>Privacy Preservation Using Machine Learning</a:t>
            </a:r>
          </a:p>
        </p:txBody>
      </p:sp>
      <p:sp>
        <p:nvSpPr>
          <p:cNvPr id="1043" name="Rectangle 1042">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26" name="Picture 2" descr="Privacy-Preserving Technologies: Advancements and Impact on Digital Security">
            <a:extLst>
              <a:ext uri="{FF2B5EF4-FFF2-40B4-BE49-F238E27FC236}">
                <a16:creationId xmlns:a16="http://schemas.microsoft.com/office/drawing/2014/main" id="{B27A80D6-EFAF-FDF7-957D-D7CB43AE9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879" r="18198" b="1"/>
          <a:stretch>
            <a:fillRect/>
          </a:stretch>
        </p:blipFill>
        <p:spPr bwMode="auto">
          <a:xfrm>
            <a:off x="4654295" y="10"/>
            <a:ext cx="7537705"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7">
            <a:extLst>
              <a:ext uri="{FF2B5EF4-FFF2-40B4-BE49-F238E27FC236}">
                <a16:creationId xmlns:a16="http://schemas.microsoft.com/office/drawing/2014/main" id="{878FBAD8-3854-2B33-1A24-89A5484142E9}"/>
              </a:ext>
            </a:extLst>
          </p:cNvPr>
          <p:cNvSpPr txBox="1">
            <a:spLocks/>
          </p:cNvSpPr>
          <p:nvPr/>
        </p:nvSpPr>
        <p:spPr>
          <a:xfrm>
            <a:off x="446534" y="4228847"/>
            <a:ext cx="3511233" cy="2171953"/>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3600" dirty="0">
              <a:solidFill>
                <a:schemeClr val="tx1"/>
              </a:solidFill>
            </a:endParaRPr>
          </a:p>
        </p:txBody>
      </p:sp>
      <p:sp>
        <p:nvSpPr>
          <p:cNvPr id="6" name="TextBox 5">
            <a:extLst>
              <a:ext uri="{FF2B5EF4-FFF2-40B4-BE49-F238E27FC236}">
                <a16:creationId xmlns:a16="http://schemas.microsoft.com/office/drawing/2014/main" id="{CB08CC55-19B2-7B1C-BCA4-6C81360E7489}"/>
              </a:ext>
            </a:extLst>
          </p:cNvPr>
          <p:cNvSpPr txBox="1"/>
          <p:nvPr/>
        </p:nvSpPr>
        <p:spPr>
          <a:xfrm>
            <a:off x="638621" y="4617720"/>
            <a:ext cx="3511232" cy="646331"/>
          </a:xfrm>
          <a:prstGeom prst="rect">
            <a:avLst/>
          </a:prstGeom>
          <a:noFill/>
        </p:spPr>
        <p:txBody>
          <a:bodyPr wrap="square" rtlCol="0">
            <a:spAutoFit/>
          </a:bodyPr>
          <a:lstStyle/>
          <a:p>
            <a:r>
              <a:rPr lang="en-US" dirty="0"/>
              <a:t>Under the supervision of </a:t>
            </a:r>
          </a:p>
          <a:p>
            <a:r>
              <a:rPr lang="en-US" b="1" dirty="0"/>
              <a:t>Dr. Nipun Bansal</a:t>
            </a:r>
            <a:endParaRPr lang="en-US" dirty="0"/>
          </a:p>
        </p:txBody>
      </p:sp>
      <p:pic>
        <p:nvPicPr>
          <p:cNvPr id="7" name="Picture 6">
            <a:extLst>
              <a:ext uri="{FF2B5EF4-FFF2-40B4-BE49-F238E27FC236}">
                <a16:creationId xmlns:a16="http://schemas.microsoft.com/office/drawing/2014/main" id="{0DD9C770-D77A-45FA-B58A-F16E793E93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623807" y="0"/>
            <a:ext cx="1568194" cy="1558832"/>
          </a:xfrm>
          <a:prstGeom prst="rect">
            <a:avLst/>
          </a:prstGeom>
          <a:noFill/>
          <a:ln>
            <a:noFill/>
          </a:ln>
        </p:spPr>
      </p:pic>
    </p:spTree>
    <p:extLst>
      <p:ext uri="{BB962C8B-B14F-4D97-AF65-F5344CB8AC3E}">
        <p14:creationId xmlns:p14="http://schemas.microsoft.com/office/powerpoint/2010/main" val="103975908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6" name="Rectangle 2065">
            <a:extLst>
              <a:ext uri="{FF2B5EF4-FFF2-40B4-BE49-F238E27FC236}">
                <a16:creationId xmlns:a16="http://schemas.microsoft.com/office/drawing/2014/main" id="{77F2BB43-1E8B-40A7-9733-9AEE76BFE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8" name="Rectangle 2067">
            <a:extLst>
              <a:ext uri="{FF2B5EF4-FFF2-40B4-BE49-F238E27FC236}">
                <a16:creationId xmlns:a16="http://schemas.microsoft.com/office/drawing/2014/main" id="{2F2499BD-C67D-4CD4-9747-4DCC7EF1F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0" name="Rectangle 2069">
            <a:extLst>
              <a:ext uri="{FF2B5EF4-FFF2-40B4-BE49-F238E27FC236}">
                <a16:creationId xmlns:a16="http://schemas.microsoft.com/office/drawing/2014/main" id="{80D02CAC-A533-4E24-84A6-B3171E16A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050" name="Picture 2" descr="113,900+ Machine Learning Stock Photos, Pictures &amp; Royalty-Free Images -  iStock | Artificial intelligence, Big data, Machine learning icon">
            <a:extLst>
              <a:ext uri="{FF2B5EF4-FFF2-40B4-BE49-F238E27FC236}">
                <a16:creationId xmlns:a16="http://schemas.microsoft.com/office/drawing/2014/main" id="{9F566C66-9592-8D9A-3620-11760F911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807" r="3" b="9215"/>
          <a:stretch>
            <a:fillRect/>
          </a:stretch>
        </p:blipFill>
        <p:spPr bwMode="auto">
          <a:xfrm>
            <a:off x="-2" y="10"/>
            <a:ext cx="4678004" cy="28574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DF11CEC-7C2A-BA3D-DD42-55733CB63BC8}"/>
              </a:ext>
            </a:extLst>
          </p:cNvPr>
          <p:cNvPicPr>
            <a:picLocks noChangeAspect="1"/>
          </p:cNvPicPr>
          <p:nvPr/>
        </p:nvPicPr>
        <p:blipFill>
          <a:blip r:embed="rId4"/>
          <a:srcRect t="5113" r="5" b="5"/>
          <a:stretch>
            <a:fillRect/>
          </a:stretch>
        </p:blipFill>
        <p:spPr>
          <a:xfrm>
            <a:off x="2" y="2652060"/>
            <a:ext cx="4560199" cy="4205939"/>
          </a:xfrm>
          <a:prstGeom prst="rect">
            <a:avLst/>
          </a:prstGeom>
        </p:spPr>
      </p:pic>
      <p:sp>
        <p:nvSpPr>
          <p:cNvPr id="2072" name="Rectangle 2071">
            <a:extLst>
              <a:ext uri="{FF2B5EF4-FFF2-40B4-BE49-F238E27FC236}">
                <a16:creationId xmlns:a16="http://schemas.microsoft.com/office/drawing/2014/main" id="{7B34D440-E359-4CB9-B8E8-81977A860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0517" y="-46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74" name="Rectangle 2073">
            <a:extLst>
              <a:ext uri="{FF2B5EF4-FFF2-40B4-BE49-F238E27FC236}">
                <a16:creationId xmlns:a16="http://schemas.microsoft.com/office/drawing/2014/main" id="{1B8F5A0E-5428-4604-A0F3-2224BE8709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 y="2560620"/>
            <a:ext cx="4581144"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6" name="Rectangle 2075">
            <a:extLst>
              <a:ext uri="{FF2B5EF4-FFF2-40B4-BE49-F238E27FC236}">
                <a16:creationId xmlns:a16="http://schemas.microsoft.com/office/drawing/2014/main" id="{D288FC14-B788-4FBC-9C5E-BC4892F5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06" y="0"/>
            <a:ext cx="7571045" cy="6858000"/>
          </a:xfrm>
          <a:prstGeom prst="rect">
            <a:avLst/>
          </a:prstGeom>
          <a:solidFill>
            <a:srgbClr val="465359"/>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Title 12">
            <a:extLst>
              <a:ext uri="{FF2B5EF4-FFF2-40B4-BE49-F238E27FC236}">
                <a16:creationId xmlns:a16="http://schemas.microsoft.com/office/drawing/2014/main" id="{FB23E1E4-7CB2-923B-9D41-672CB85E05DA}"/>
              </a:ext>
            </a:extLst>
          </p:cNvPr>
          <p:cNvSpPr>
            <a:spLocks noGrp="1"/>
          </p:cNvSpPr>
          <p:nvPr>
            <p:ph type="title"/>
          </p:nvPr>
        </p:nvSpPr>
        <p:spPr>
          <a:xfrm>
            <a:off x="5206570" y="-334136"/>
            <a:ext cx="6400367" cy="1431399"/>
          </a:xfrm>
        </p:spPr>
        <p:txBody>
          <a:bodyPr vert="horz" lIns="91440" tIns="45720" rIns="91440" bIns="45720" rtlCol="0" anchor="ctr">
            <a:normAutofit/>
          </a:bodyPr>
          <a:lstStyle/>
          <a:p>
            <a:r>
              <a:rPr lang="en-US" b="1" kern="1200" cap="all" dirty="0">
                <a:solidFill>
                  <a:srgbClr val="FFFFFF"/>
                </a:solidFill>
                <a:latin typeface="+mj-lt"/>
                <a:ea typeface="+mj-ea"/>
                <a:cs typeface="+mj-cs"/>
              </a:rPr>
              <a:t>Introduction</a:t>
            </a:r>
          </a:p>
        </p:txBody>
      </p:sp>
      <p:sp>
        <p:nvSpPr>
          <p:cNvPr id="8" name="Content Placeholder 7">
            <a:extLst>
              <a:ext uri="{FF2B5EF4-FFF2-40B4-BE49-F238E27FC236}">
                <a16:creationId xmlns:a16="http://schemas.microsoft.com/office/drawing/2014/main" id="{1A667A9A-3428-68BE-D555-0DE1859FDF8A}"/>
              </a:ext>
            </a:extLst>
          </p:cNvPr>
          <p:cNvSpPr>
            <a:spLocks noGrp="1"/>
          </p:cNvSpPr>
          <p:nvPr>
            <p:ph sz="quarter" idx="4"/>
          </p:nvPr>
        </p:nvSpPr>
        <p:spPr>
          <a:xfrm>
            <a:off x="5209392" y="1672252"/>
            <a:ext cx="6397545" cy="4061676"/>
          </a:xfrm>
        </p:spPr>
        <p:txBody>
          <a:bodyPr vert="horz" lIns="91440" tIns="45720" rIns="91440" bIns="45720" rtlCol="0" anchor="ctr">
            <a:noAutofit/>
          </a:bodyPr>
          <a:lstStyle/>
          <a:p>
            <a:pPr marL="285750" indent="-285750">
              <a:lnSpc>
                <a:spcPct val="90000"/>
              </a:lnSpc>
              <a:buFont typeface="Wingdings 2" panose="05020102010507070707" pitchFamily="18" charset="2"/>
              <a:buChar char=""/>
            </a:pPr>
            <a:r>
              <a:rPr lang="en-US" dirty="0">
                <a:solidFill>
                  <a:srgbClr val="FFFFFF"/>
                </a:solidFill>
              </a:rPr>
              <a:t>Data privacy has become a critical concern in the digital age, where massive amounts of personal data are collected, processed, and analyzed.</a:t>
            </a:r>
          </a:p>
          <a:p>
            <a:pPr>
              <a:lnSpc>
                <a:spcPct val="90000"/>
              </a:lnSpc>
              <a:buFont typeface="Wingdings 2" panose="05020102010507070707" pitchFamily="18" charset="2"/>
              <a:buChar char=""/>
            </a:pPr>
            <a:endParaRPr lang="en-US" dirty="0">
              <a:solidFill>
                <a:srgbClr val="FFFFFF"/>
              </a:solidFill>
            </a:endParaRPr>
          </a:p>
          <a:p>
            <a:pPr marL="285750" indent="-285750">
              <a:lnSpc>
                <a:spcPct val="90000"/>
              </a:lnSpc>
              <a:buFont typeface="Wingdings 2" panose="05020102010507070707" pitchFamily="18" charset="2"/>
              <a:buChar char=""/>
            </a:pPr>
            <a:r>
              <a:rPr lang="en-US" dirty="0">
                <a:solidFill>
                  <a:srgbClr val="FFFFFF"/>
                </a:solidFill>
              </a:rPr>
              <a:t>With the rise of online platforms, social media, e-commerce, and IoT devices, the amount of sensitive data being generated has grown exponentially.</a:t>
            </a:r>
          </a:p>
          <a:p>
            <a:pPr>
              <a:lnSpc>
                <a:spcPct val="90000"/>
              </a:lnSpc>
              <a:buFont typeface="Wingdings 2" panose="05020102010507070707" pitchFamily="18" charset="2"/>
              <a:buChar char=""/>
            </a:pPr>
            <a:endParaRPr lang="en-US" dirty="0">
              <a:solidFill>
                <a:srgbClr val="FFFFFF"/>
              </a:solidFill>
            </a:endParaRPr>
          </a:p>
          <a:p>
            <a:pPr marL="285750" indent="-285750">
              <a:lnSpc>
                <a:spcPct val="90000"/>
              </a:lnSpc>
              <a:buFont typeface="Wingdings 2" panose="05020102010507070707" pitchFamily="18" charset="2"/>
              <a:buChar char=""/>
            </a:pPr>
            <a:r>
              <a:rPr lang="en-US" dirty="0">
                <a:solidFill>
                  <a:srgbClr val="FFFFFF"/>
                </a:solidFill>
              </a:rPr>
              <a:t>Protecting this data is essential for maintaining user trust, preventing data breaches, and complying with data protection regulations like GDPR.</a:t>
            </a:r>
          </a:p>
          <a:p>
            <a:pPr>
              <a:lnSpc>
                <a:spcPct val="90000"/>
              </a:lnSpc>
              <a:buFont typeface="Wingdings 2" panose="05020102010507070707" pitchFamily="18" charset="2"/>
              <a:buChar char=""/>
            </a:pPr>
            <a:endParaRPr lang="en-US" dirty="0">
              <a:solidFill>
                <a:srgbClr val="FFFFFF"/>
              </a:solidFill>
            </a:endParaRPr>
          </a:p>
          <a:p>
            <a:pPr marL="285750" indent="-285750">
              <a:lnSpc>
                <a:spcPct val="90000"/>
              </a:lnSpc>
              <a:buFont typeface="Wingdings 2" panose="05020102010507070707" pitchFamily="18" charset="2"/>
              <a:buChar char=""/>
            </a:pPr>
            <a:r>
              <a:rPr lang="en-US" dirty="0">
                <a:solidFill>
                  <a:srgbClr val="FFFFFF"/>
                </a:solidFill>
              </a:rPr>
              <a:t>Machine learning plays a crucial role in enhancing privacy by detecting anomalies, securing data pipelines, and enabling privacy-preserving algorithms.</a:t>
            </a:r>
          </a:p>
          <a:p>
            <a:pPr>
              <a:lnSpc>
                <a:spcPct val="90000"/>
              </a:lnSpc>
              <a:buFont typeface="Wingdings 2" panose="05020102010507070707" pitchFamily="18" charset="2"/>
              <a:buChar char=""/>
            </a:pPr>
            <a:endParaRPr lang="en-US" dirty="0">
              <a:solidFill>
                <a:srgbClr val="FFFFFF"/>
              </a:solidFill>
            </a:endParaRPr>
          </a:p>
          <a:p>
            <a:pPr marL="285750" indent="-285750">
              <a:lnSpc>
                <a:spcPct val="90000"/>
              </a:lnSpc>
              <a:buFont typeface="Wingdings 2" panose="05020102010507070707" pitchFamily="18" charset="2"/>
              <a:buChar char=""/>
            </a:pPr>
            <a:r>
              <a:rPr lang="en-US" dirty="0">
                <a:solidFill>
                  <a:srgbClr val="FFFFFF"/>
                </a:solidFill>
              </a:rPr>
              <a:t>This project aims to leverage machine learning to strengthen privacy protection and address the challenges posed by increasing digital data.</a:t>
            </a:r>
          </a:p>
        </p:txBody>
      </p:sp>
    </p:spTree>
    <p:extLst>
      <p:ext uri="{BB962C8B-B14F-4D97-AF65-F5344CB8AC3E}">
        <p14:creationId xmlns:p14="http://schemas.microsoft.com/office/powerpoint/2010/main" val="220112592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F0FD1A0-C075-EE18-B3AE-363C242D0BCE}"/>
              </a:ext>
            </a:extLst>
          </p:cNvPr>
          <p:cNvSpPr>
            <a:spLocks noGrp="1"/>
          </p:cNvSpPr>
          <p:nvPr>
            <p:ph type="title"/>
          </p:nvPr>
        </p:nvSpPr>
        <p:spPr>
          <a:xfrm>
            <a:off x="457200" y="880110"/>
            <a:ext cx="11267440" cy="553720"/>
          </a:xfrm>
        </p:spPr>
        <p:txBody>
          <a:bodyPr/>
          <a:lstStyle/>
          <a:p>
            <a:r>
              <a:rPr lang="en-US" b="1" dirty="0"/>
              <a:t>Problem Statement</a:t>
            </a:r>
          </a:p>
        </p:txBody>
      </p:sp>
      <p:sp>
        <p:nvSpPr>
          <p:cNvPr id="20" name="Content Placeholder 3">
            <a:extLst>
              <a:ext uri="{FF2B5EF4-FFF2-40B4-BE49-F238E27FC236}">
                <a16:creationId xmlns:a16="http://schemas.microsoft.com/office/drawing/2014/main" id="{7C987B03-58AE-7E8A-A1C7-83569FBBCD1F}"/>
              </a:ext>
            </a:extLst>
          </p:cNvPr>
          <p:cNvSpPr>
            <a:spLocks noGrp="1"/>
          </p:cNvSpPr>
          <p:nvPr>
            <p:ph sz="half" idx="2"/>
          </p:nvPr>
        </p:nvSpPr>
        <p:spPr>
          <a:xfrm>
            <a:off x="457201" y="1748790"/>
            <a:ext cx="11267440" cy="4377689"/>
          </a:xfrm>
          <a:noFill/>
        </p:spPr>
        <p:txBody>
          <a:bodyPr>
            <a:normAutofit/>
          </a:bodyPr>
          <a:lstStyle/>
          <a:p>
            <a:pPr>
              <a:buFont typeface="Arial" panose="020B0604020202020204" pitchFamily="34" charset="0"/>
              <a:buChar char="•"/>
            </a:pPr>
            <a:r>
              <a:rPr lang="en-US" dirty="0"/>
              <a:t>  Despite advances in data protection, significant challenges remain in preserving user privacy.</a:t>
            </a:r>
          </a:p>
          <a:p>
            <a:pPr marL="182563" indent="-182563">
              <a:buFont typeface="Arial" panose="020B0604020202020204" pitchFamily="34" charset="0"/>
              <a:buChar char="•"/>
            </a:pPr>
            <a:r>
              <a:rPr lang="en-US" dirty="0"/>
              <a:t>Personal data is often collected without explicit user consent, exposing users to risks such as identity theft, unauthorized profiling, and financial fraud.</a:t>
            </a:r>
          </a:p>
          <a:p>
            <a:pPr marL="182563" indent="-182563">
              <a:buFont typeface="Arial" panose="020B0604020202020204" pitchFamily="34" charset="0"/>
              <a:buChar char="•"/>
            </a:pPr>
            <a:r>
              <a:rPr lang="en-US" dirty="0"/>
              <a:t>Current data protection laws like GDPR have limitations, as they rely heavily on user consent, which can be confusing and difficult to manage.</a:t>
            </a:r>
          </a:p>
          <a:p>
            <a:pPr marL="182563" indent="-182563">
              <a:buFont typeface="Arial" panose="020B0604020202020204" pitchFamily="34" charset="0"/>
              <a:buChar char="•"/>
            </a:pPr>
            <a:r>
              <a:rPr lang="en-US" dirty="0"/>
              <a:t>Many users are unaware of how their data is collected, stored, and shared, leading to a lack of control over their digital footprint.</a:t>
            </a:r>
          </a:p>
          <a:p>
            <a:pPr marL="182563" indent="-182563">
              <a:buFont typeface="Arial" panose="020B0604020202020204" pitchFamily="34" charset="0"/>
              <a:buChar char="•"/>
            </a:pPr>
            <a:r>
              <a:rPr lang="en-US" dirty="0"/>
              <a:t>Machine learning systems themselves can be vulnerable to privacy breaches, including model inversion, membership inference, and data leakage attacks.</a:t>
            </a:r>
          </a:p>
          <a:p>
            <a:pPr marL="182563" indent="-182563">
              <a:buFont typeface="Arial" panose="020B0604020202020204" pitchFamily="34" charset="0"/>
              <a:buChar char="•"/>
            </a:pPr>
            <a:r>
              <a:rPr lang="en-US" dirty="0"/>
              <a:t>This project aims to address these challenges by developing machine learning models that prioritize privacy and protect sensitive information.</a:t>
            </a:r>
          </a:p>
        </p:txBody>
      </p:sp>
    </p:spTree>
    <p:extLst>
      <p:ext uri="{BB962C8B-B14F-4D97-AF65-F5344CB8AC3E}">
        <p14:creationId xmlns:p14="http://schemas.microsoft.com/office/powerpoint/2010/main" val="837402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D90F8-B1B6-A922-2F13-EEE5812D2A34}"/>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8514CB6-C404-D2CE-992F-9B866A9393D8}"/>
              </a:ext>
            </a:extLst>
          </p:cNvPr>
          <p:cNvSpPr>
            <a:spLocks noGrp="1"/>
          </p:cNvSpPr>
          <p:nvPr>
            <p:ph type="title"/>
          </p:nvPr>
        </p:nvSpPr>
        <p:spPr>
          <a:xfrm>
            <a:off x="457200" y="880110"/>
            <a:ext cx="11267440" cy="553720"/>
          </a:xfrm>
        </p:spPr>
        <p:txBody>
          <a:bodyPr/>
          <a:lstStyle/>
          <a:p>
            <a:r>
              <a:rPr lang="en-US" b="1" dirty="0"/>
              <a:t>purpose</a:t>
            </a:r>
          </a:p>
        </p:txBody>
      </p:sp>
      <p:sp>
        <p:nvSpPr>
          <p:cNvPr id="20" name="Content Placeholder 3">
            <a:extLst>
              <a:ext uri="{FF2B5EF4-FFF2-40B4-BE49-F238E27FC236}">
                <a16:creationId xmlns:a16="http://schemas.microsoft.com/office/drawing/2014/main" id="{2F2602F4-CF0D-873F-6163-2E3DB5B4D2B7}"/>
              </a:ext>
            </a:extLst>
          </p:cNvPr>
          <p:cNvSpPr>
            <a:spLocks noGrp="1"/>
          </p:cNvSpPr>
          <p:nvPr>
            <p:ph sz="half" idx="2"/>
          </p:nvPr>
        </p:nvSpPr>
        <p:spPr>
          <a:xfrm>
            <a:off x="457201" y="1748790"/>
            <a:ext cx="11267440" cy="4377689"/>
          </a:xfrm>
          <a:noFill/>
        </p:spPr>
        <p:txBody>
          <a:bodyPr>
            <a:normAutofit/>
          </a:bodyPr>
          <a:lstStyle/>
          <a:p>
            <a:pPr>
              <a:lnSpc>
                <a:spcPct val="150000"/>
              </a:lnSpc>
            </a:pPr>
            <a:r>
              <a:rPr lang="en-US" sz="2000" dirty="0"/>
              <a:t>The purpose of this project is to gain a comprehensive understanding of consumer experiences and attitudes toward sharing personal data for marketing purposes. It aims to explore how users assess the benefits of internet use in relation to privacy concerns and identify factors influencing their willingness to share data.  Additionally, the project seeks to develop machine learning models that prioritize data privacy, ensuring that personal information is protected while being processed.  This includes the implementation of Convolutional Neural Networks (CNNs) for detecting image manipulation, enhancing data integrity, and mitigating potential privacy risks. By creating thematic codes representing key privacy-related concerns, the project intends to guide the design and implementation of robust privacy-preserving machine learning systems.</a:t>
            </a:r>
          </a:p>
        </p:txBody>
      </p:sp>
      <p:pic>
        <p:nvPicPr>
          <p:cNvPr id="3" name="Picture 2">
            <a:extLst>
              <a:ext uri="{FF2B5EF4-FFF2-40B4-BE49-F238E27FC236}">
                <a16:creationId xmlns:a16="http://schemas.microsoft.com/office/drawing/2014/main" id="{1486DF17-E617-4022-82FB-FD02CBE2107B}"/>
              </a:ext>
            </a:extLst>
          </p:cNvPr>
          <p:cNvPicPr>
            <a:picLocks noChangeAspect="1"/>
          </p:cNvPicPr>
          <p:nvPr/>
        </p:nvPicPr>
        <p:blipFill>
          <a:blip r:embed="rId3"/>
          <a:stretch>
            <a:fillRect/>
          </a:stretch>
        </p:blipFill>
        <p:spPr>
          <a:xfrm>
            <a:off x="10385415" y="645459"/>
            <a:ext cx="1455990" cy="1238848"/>
          </a:xfrm>
          <a:prstGeom prst="rect">
            <a:avLst/>
          </a:prstGeom>
        </p:spPr>
      </p:pic>
    </p:spTree>
    <p:extLst>
      <p:ext uri="{BB962C8B-B14F-4D97-AF65-F5344CB8AC3E}">
        <p14:creationId xmlns:p14="http://schemas.microsoft.com/office/powerpoint/2010/main" val="1354296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30D5D-DF9D-D5A1-1FC4-527114D1B8D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3FA9019-2EAE-D4B9-8597-161ACD081048}"/>
              </a:ext>
            </a:extLst>
          </p:cNvPr>
          <p:cNvSpPr>
            <a:spLocks noGrp="1"/>
          </p:cNvSpPr>
          <p:nvPr>
            <p:ph type="title"/>
          </p:nvPr>
        </p:nvSpPr>
        <p:spPr>
          <a:xfrm>
            <a:off x="457200" y="880110"/>
            <a:ext cx="11267440" cy="553720"/>
          </a:xfrm>
        </p:spPr>
        <p:txBody>
          <a:bodyPr/>
          <a:lstStyle/>
          <a:p>
            <a:r>
              <a:rPr lang="en-US" b="1" dirty="0"/>
              <a:t>Background</a:t>
            </a:r>
          </a:p>
        </p:txBody>
      </p:sp>
      <p:graphicFrame>
        <p:nvGraphicFramePr>
          <p:cNvPr id="3076" name="Content Placeholder 3">
            <a:extLst>
              <a:ext uri="{FF2B5EF4-FFF2-40B4-BE49-F238E27FC236}">
                <a16:creationId xmlns:a16="http://schemas.microsoft.com/office/drawing/2014/main" id="{92AEB540-A69F-C02D-A15D-6D0CFF194A83}"/>
              </a:ext>
            </a:extLst>
          </p:cNvPr>
          <p:cNvGraphicFramePr>
            <a:graphicFrameLocks noGrp="1"/>
          </p:cNvGraphicFramePr>
          <p:nvPr>
            <p:ph sz="half" idx="2"/>
            <p:extLst>
              <p:ext uri="{D42A27DB-BD31-4B8C-83A1-F6EECF244321}">
                <p14:modId xmlns:p14="http://schemas.microsoft.com/office/powerpoint/2010/main" val="4146487515"/>
              </p:ext>
            </p:extLst>
          </p:nvPr>
        </p:nvGraphicFramePr>
        <p:xfrm>
          <a:off x="457200" y="1748790"/>
          <a:ext cx="11267440" cy="49377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74" name="Picture 2" descr="Seven tips for compliance with the General Data Protection Regulation (GDPR)  - Ackcent">
            <a:extLst>
              <a:ext uri="{FF2B5EF4-FFF2-40B4-BE49-F238E27FC236}">
                <a16:creationId xmlns:a16="http://schemas.microsoft.com/office/drawing/2014/main" id="{5D389013-41B8-BE9B-D5EF-107EEEF9149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29800" y="560070"/>
            <a:ext cx="1904999" cy="1188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177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4923C-8B1B-D018-D5E9-B8111865A8C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C761749-2030-0203-2AEB-69C61BF4BCAD}"/>
              </a:ext>
            </a:extLst>
          </p:cNvPr>
          <p:cNvSpPr>
            <a:spLocks noGrp="1"/>
          </p:cNvSpPr>
          <p:nvPr>
            <p:ph type="title"/>
          </p:nvPr>
        </p:nvSpPr>
        <p:spPr>
          <a:xfrm>
            <a:off x="457201" y="754380"/>
            <a:ext cx="11267440" cy="553720"/>
          </a:xfrm>
        </p:spPr>
        <p:txBody>
          <a:bodyPr/>
          <a:lstStyle/>
          <a:p>
            <a:r>
              <a:rPr lang="en-US" b="1" dirty="0"/>
              <a:t>Knowledge</a:t>
            </a:r>
          </a:p>
        </p:txBody>
      </p:sp>
      <p:sp>
        <p:nvSpPr>
          <p:cNvPr id="20" name="Content Placeholder 3">
            <a:extLst>
              <a:ext uri="{FF2B5EF4-FFF2-40B4-BE49-F238E27FC236}">
                <a16:creationId xmlns:a16="http://schemas.microsoft.com/office/drawing/2014/main" id="{BA41C532-475A-F8B2-00EB-CD6603009455}"/>
              </a:ext>
            </a:extLst>
          </p:cNvPr>
          <p:cNvSpPr>
            <a:spLocks noGrp="1"/>
          </p:cNvSpPr>
          <p:nvPr>
            <p:ph sz="half" idx="2"/>
          </p:nvPr>
        </p:nvSpPr>
        <p:spPr>
          <a:xfrm>
            <a:off x="457201" y="1313180"/>
            <a:ext cx="11521439" cy="5344160"/>
          </a:xfrm>
          <a:noFill/>
        </p:spPr>
        <p:txBody>
          <a:bodyPr>
            <a:noAutofit/>
          </a:bodyPr>
          <a:lstStyle/>
          <a:p>
            <a:pPr marL="182563" indent="-182563">
              <a:buFont typeface="Arial" panose="020B0604020202020204" pitchFamily="34" charset="0"/>
              <a:buChar char="•"/>
            </a:pPr>
            <a:r>
              <a:rPr lang="en-US" sz="1600" b="1" dirty="0"/>
              <a:t>Understanding Data Collection</a:t>
            </a:r>
            <a:endParaRPr lang="en-US" sz="1600" dirty="0"/>
          </a:p>
          <a:p>
            <a:pPr marL="742950" lvl="1" indent="-285750">
              <a:buFont typeface="Arial" panose="020B0604020202020204" pitchFamily="34" charset="0"/>
              <a:buChar char="•"/>
            </a:pPr>
            <a:r>
              <a:rPr lang="en-US" sz="1600" dirty="0"/>
              <a:t>Many users are unaware of the extent to which their personal data is collected, processed, and used for personalized marketing.</a:t>
            </a:r>
          </a:p>
          <a:p>
            <a:pPr marL="742950" lvl="1" indent="-285750">
              <a:buFont typeface="Arial" panose="020B0604020202020204" pitchFamily="34" charset="0"/>
              <a:buChar char="•"/>
            </a:pPr>
            <a:r>
              <a:rPr lang="en-US" sz="1600" dirty="0"/>
              <a:t>Personal data includes browsing history, location data, social media activity, purchase history, and digital interactions.</a:t>
            </a:r>
          </a:p>
          <a:p>
            <a:pPr marL="182563" indent="-182563">
              <a:buFont typeface="Arial" panose="020B0604020202020204" pitchFamily="34" charset="0"/>
              <a:buChar char="•"/>
            </a:pPr>
            <a:r>
              <a:rPr lang="en-US" sz="1600" b="1" dirty="0"/>
              <a:t>Knowledge Gaps and Their Impact</a:t>
            </a:r>
            <a:endParaRPr lang="en-US" sz="1600" dirty="0"/>
          </a:p>
          <a:p>
            <a:pPr marL="742950" lvl="1" indent="-285750">
              <a:buFont typeface="Arial" panose="020B0604020202020204" pitchFamily="34" charset="0"/>
              <a:buChar char="•"/>
            </a:pPr>
            <a:r>
              <a:rPr lang="en-US" sz="1600" dirty="0"/>
              <a:t>Users often underestimate the amount of personal information they share online.</a:t>
            </a:r>
          </a:p>
          <a:p>
            <a:pPr marL="742950" lvl="1" indent="-285750">
              <a:buFont typeface="Arial" panose="020B0604020202020204" pitchFamily="34" charset="0"/>
              <a:buChar char="•"/>
            </a:pPr>
            <a:r>
              <a:rPr lang="en-US" sz="1600" dirty="0"/>
              <a:t>Studies reveal that even tech-savvy users are generally unfamiliar with terms like Online Behavioral Advertising (OBA) and data tracking technologies.</a:t>
            </a:r>
          </a:p>
          <a:p>
            <a:pPr marL="742950" lvl="1" indent="-285750">
              <a:buFont typeface="Arial" panose="020B0604020202020204" pitchFamily="34" charset="0"/>
              <a:buChar char="•"/>
            </a:pPr>
            <a:r>
              <a:rPr lang="en-US" sz="1600" dirty="0"/>
              <a:t>This gap in knowledge makes it challenging for users to assess privacy risks accurately.</a:t>
            </a:r>
          </a:p>
          <a:p>
            <a:pPr marL="182563" indent="-182563">
              <a:buFont typeface="Arial" panose="020B0604020202020204" pitchFamily="34" charset="0"/>
              <a:buChar char="•"/>
            </a:pPr>
            <a:r>
              <a:rPr lang="en-US" sz="1600" b="1" dirty="0"/>
              <a:t>Consequences of Limited Awareness</a:t>
            </a:r>
            <a:endParaRPr lang="en-US" sz="1600" dirty="0"/>
          </a:p>
          <a:p>
            <a:pPr marL="742950" lvl="1" indent="-285750">
              <a:buFont typeface="Arial" panose="020B0604020202020204" pitchFamily="34" charset="0"/>
              <a:buChar char="•"/>
            </a:pPr>
            <a:r>
              <a:rPr lang="en-US" sz="1600" dirty="0"/>
              <a:t>Lack of awareness can lead to a false sense of security, where users believe their data is more protected than it actually is.</a:t>
            </a:r>
          </a:p>
          <a:p>
            <a:pPr marL="742950" lvl="1" indent="-285750">
              <a:buFont typeface="Arial" panose="020B0604020202020204" pitchFamily="34" charset="0"/>
              <a:buChar char="•"/>
            </a:pPr>
            <a:r>
              <a:rPr lang="en-US" sz="1600" dirty="0"/>
              <a:t>Users may unknowingly expose themselves to privacy risks, including identity theft, data breaches, and unauthorized profiling.</a:t>
            </a:r>
          </a:p>
          <a:p>
            <a:pPr marL="182563" indent="-182563">
              <a:buFont typeface="Arial" panose="020B0604020202020204" pitchFamily="34" charset="0"/>
              <a:buChar char="•"/>
            </a:pPr>
            <a:r>
              <a:rPr lang="en-US" sz="1600" b="1" dirty="0"/>
              <a:t>Bridging the Knowledge Gap</a:t>
            </a:r>
            <a:endParaRPr lang="en-US" sz="1600" dirty="0"/>
          </a:p>
          <a:p>
            <a:pPr marL="742950" lvl="1" indent="-285750">
              <a:buFont typeface="Arial" panose="020B0604020202020204" pitchFamily="34" charset="0"/>
              <a:buChar char="•"/>
            </a:pPr>
            <a:r>
              <a:rPr lang="en-US" sz="1600" dirty="0"/>
              <a:t>Educating users about data collection practices can empower them to make more informed decisions about their digital privacy.</a:t>
            </a:r>
          </a:p>
          <a:p>
            <a:pPr marL="742950" lvl="1" indent="-285750">
              <a:buFont typeface="Arial" panose="020B0604020202020204" pitchFamily="34" charset="0"/>
              <a:buChar char="•"/>
            </a:pPr>
            <a:r>
              <a:rPr lang="en-US" sz="1600" dirty="0"/>
              <a:t>Increased awareness can lead to stronger privacy practices and more cautious online behavior, reducing the risks associated with data misuse.</a:t>
            </a:r>
          </a:p>
        </p:txBody>
      </p:sp>
    </p:spTree>
    <p:extLst>
      <p:ext uri="{BB962C8B-B14F-4D97-AF65-F5344CB8AC3E}">
        <p14:creationId xmlns:p14="http://schemas.microsoft.com/office/powerpoint/2010/main" val="1882530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05" name="Rectangle 4104">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07" name="Rectangle 4106">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4109" name="Rectangle 4108">
            <a:extLst>
              <a:ext uri="{FF2B5EF4-FFF2-40B4-BE49-F238E27FC236}">
                <a16:creationId xmlns:a16="http://schemas.microsoft.com/office/drawing/2014/main" id="{064D2207-AA67-DAD1-D42E-7A07328CA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098" name="Picture 2" descr="Deal Photos - Download Free High-Quality Pictures | Freepik">
            <a:extLst>
              <a:ext uri="{FF2B5EF4-FFF2-40B4-BE49-F238E27FC236}">
                <a16:creationId xmlns:a16="http://schemas.microsoft.com/office/drawing/2014/main" id="{32A3216B-2198-1364-A7B6-86BE1FF8E4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513" r="21632"/>
          <a:stretch>
            <a:fillRect/>
          </a:stretch>
        </p:blipFill>
        <p:spPr bwMode="auto">
          <a:xfrm>
            <a:off x="585216" y="2163544"/>
            <a:ext cx="3410985" cy="421185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7E618A4-5020-A570-BAAC-71C22849B320}"/>
              </a:ext>
            </a:extLst>
          </p:cNvPr>
          <p:cNvSpPr>
            <a:spLocks noGrp="1"/>
          </p:cNvSpPr>
          <p:nvPr>
            <p:ph type="title"/>
          </p:nvPr>
        </p:nvSpPr>
        <p:spPr>
          <a:xfrm>
            <a:off x="585216" y="704088"/>
            <a:ext cx="3523686" cy="1294379"/>
          </a:xfrm>
        </p:spPr>
        <p:txBody>
          <a:bodyPr vert="horz" lIns="91440" tIns="45720" rIns="91440" bIns="45720" rtlCol="0" anchor="t">
            <a:normAutofit/>
          </a:bodyPr>
          <a:lstStyle/>
          <a:p>
            <a:r>
              <a:rPr lang="en-US" b="1" kern="1200" cap="all" dirty="0">
                <a:solidFill>
                  <a:schemeClr val="tx1">
                    <a:lumMod val="75000"/>
                    <a:lumOff val="25000"/>
                  </a:schemeClr>
                </a:solidFill>
                <a:latin typeface="+mj-lt"/>
                <a:ea typeface="+mj-ea"/>
                <a:cs typeface="+mj-cs"/>
              </a:rPr>
              <a:t>TRUST</a:t>
            </a:r>
          </a:p>
        </p:txBody>
      </p:sp>
      <p:sp>
        <p:nvSpPr>
          <p:cNvPr id="10" name="Content Placeholder 9">
            <a:extLst>
              <a:ext uri="{FF2B5EF4-FFF2-40B4-BE49-F238E27FC236}">
                <a16:creationId xmlns:a16="http://schemas.microsoft.com/office/drawing/2014/main" id="{C9475E86-FFB0-87BC-084C-C728916152B0}"/>
              </a:ext>
            </a:extLst>
          </p:cNvPr>
          <p:cNvSpPr>
            <a:spLocks noGrp="1"/>
          </p:cNvSpPr>
          <p:nvPr>
            <p:ph sz="quarter" idx="4"/>
          </p:nvPr>
        </p:nvSpPr>
        <p:spPr>
          <a:xfrm>
            <a:off x="4379976" y="704088"/>
            <a:ext cx="7365491" cy="5760721"/>
          </a:xfrm>
        </p:spPr>
        <p:txBody>
          <a:bodyPr vert="horz" lIns="91440" tIns="45720" rIns="91440" bIns="45720" rtlCol="0" anchor="t">
            <a:normAutofit/>
          </a:bodyPr>
          <a:lstStyle/>
          <a:p>
            <a:pPr>
              <a:buFont typeface="Wingdings 2" panose="05020102010507070707" pitchFamily="18" charset="2"/>
              <a:buChar char=""/>
            </a:pPr>
            <a:r>
              <a:rPr lang="en-US" dirty="0"/>
              <a:t>Trust is a critical factor in determining how willingly users share their personal data.</a:t>
            </a:r>
          </a:p>
          <a:p>
            <a:pPr>
              <a:buFont typeface="Wingdings 2" panose="05020102010507070707" pitchFamily="18" charset="2"/>
              <a:buChar char=""/>
            </a:pPr>
            <a:r>
              <a:rPr lang="en-US" dirty="0"/>
              <a:t>Studies have shown that users with a higher level of trust in online platforms are more likely to share sensitive information.</a:t>
            </a:r>
          </a:p>
          <a:p>
            <a:pPr>
              <a:buFont typeface="Wingdings 2" panose="05020102010507070707" pitchFamily="18" charset="2"/>
              <a:buChar char=""/>
            </a:pPr>
            <a:r>
              <a:rPr lang="en-US" dirty="0"/>
              <a:t>Trust is influenced by factors like transparency, data security, and the reputation of the platform.</a:t>
            </a:r>
          </a:p>
          <a:p>
            <a:pPr>
              <a:buFont typeface="Wingdings 2" panose="05020102010507070707" pitchFamily="18" charset="2"/>
              <a:buChar char=""/>
            </a:pPr>
            <a:r>
              <a:rPr lang="en-US" dirty="0"/>
              <a:t>Users expect companies to handle their data responsibly, protect it from unauthorized access, and be clear about how it is used.</a:t>
            </a:r>
          </a:p>
          <a:p>
            <a:pPr>
              <a:buFont typeface="Wingdings 2" panose="05020102010507070707" pitchFamily="18" charset="2"/>
              <a:buChar char=""/>
            </a:pPr>
            <a:r>
              <a:rPr lang="en-US" dirty="0"/>
              <a:t>However, trust can be easily broken if companies fail to uphold these expectations, leading to significant reputational damage and loss of user confidence.</a:t>
            </a:r>
          </a:p>
          <a:p>
            <a:pPr>
              <a:buFont typeface="Wingdings 2" panose="05020102010507070707" pitchFamily="18" charset="2"/>
              <a:buChar char=""/>
            </a:pPr>
            <a:r>
              <a:rPr lang="en-US" dirty="0"/>
              <a:t>Building and maintaining trust requires continuous efforts, including transparent data policies, robust security measures, and prompt responses to data breaches.</a:t>
            </a:r>
          </a:p>
          <a:p>
            <a:pPr>
              <a:buFont typeface="Wingdings 2" panose="05020102010507070707" pitchFamily="18" charset="2"/>
              <a:buChar char=""/>
            </a:pPr>
            <a:r>
              <a:rPr lang="en-US" dirty="0"/>
              <a:t>Without trust, even the most advanced privacy technologies may fail to gain user acceptance.</a:t>
            </a:r>
          </a:p>
        </p:txBody>
      </p:sp>
      <p:sp>
        <p:nvSpPr>
          <p:cNvPr id="4111" name="Rectangle 4110">
            <a:extLst>
              <a:ext uri="{FF2B5EF4-FFF2-40B4-BE49-F238E27FC236}">
                <a16:creationId xmlns:a16="http://schemas.microsoft.com/office/drawing/2014/main" id="{BE047182-D574-4420-02BD-B1574963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13" name="Rectangle 4112">
            <a:extLst>
              <a:ext uri="{FF2B5EF4-FFF2-40B4-BE49-F238E27FC236}">
                <a16:creationId xmlns:a16="http://schemas.microsoft.com/office/drawing/2014/main" id="{70F9EDA4-AE82-51D4-9890-D3FD6D2AF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15" name="Rectangle 4114">
            <a:extLst>
              <a:ext uri="{FF2B5EF4-FFF2-40B4-BE49-F238E27FC236}">
                <a16:creationId xmlns:a16="http://schemas.microsoft.com/office/drawing/2014/main" id="{6832D855-C8B5-8666-2EF6-1D436A827A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95820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3886D-7B9A-A5BC-A69F-C1282C549DA0}"/>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B448728E-2EDF-4F60-A97C-C0F08E06DB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78CBB40F-4E03-45AE-9020-C27B0AE7F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A9F7CCD1-513F-4B7A-9497-7AA9144DB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1" name="Title 10">
            <a:extLst>
              <a:ext uri="{FF2B5EF4-FFF2-40B4-BE49-F238E27FC236}">
                <a16:creationId xmlns:a16="http://schemas.microsoft.com/office/drawing/2014/main" id="{83818E22-458F-B560-EC99-75052417C949}"/>
              </a:ext>
            </a:extLst>
          </p:cNvPr>
          <p:cNvSpPr>
            <a:spLocks noGrp="1"/>
          </p:cNvSpPr>
          <p:nvPr>
            <p:ph type="title"/>
          </p:nvPr>
        </p:nvSpPr>
        <p:spPr>
          <a:xfrm>
            <a:off x="581025" y="702156"/>
            <a:ext cx="11029616" cy="1188720"/>
          </a:xfrm>
        </p:spPr>
        <p:txBody>
          <a:bodyPr vert="horz" lIns="91440" tIns="45720" rIns="91440" bIns="45720" rtlCol="0" anchor="b">
            <a:normAutofit/>
          </a:bodyPr>
          <a:lstStyle/>
          <a:p>
            <a:r>
              <a:rPr lang="en-US" b="0" kern="1200" cap="all">
                <a:solidFill>
                  <a:schemeClr val="tx1">
                    <a:lumMod val="85000"/>
                    <a:lumOff val="15000"/>
                  </a:schemeClr>
                </a:solidFill>
                <a:latin typeface="+mj-lt"/>
                <a:ea typeface="+mj-ea"/>
                <a:cs typeface="+mj-cs"/>
              </a:rPr>
              <a:t>Literature survey</a:t>
            </a:r>
          </a:p>
        </p:txBody>
      </p:sp>
      <p:sp>
        <p:nvSpPr>
          <p:cNvPr id="34" name="Rectangle 33">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35">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37">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2" name="Content Placeholder 3">
            <a:extLst>
              <a:ext uri="{FF2B5EF4-FFF2-40B4-BE49-F238E27FC236}">
                <a16:creationId xmlns:a16="http://schemas.microsoft.com/office/drawing/2014/main" id="{06574D19-AB96-AF07-4594-C92E69120CB4}"/>
              </a:ext>
            </a:extLst>
          </p:cNvPr>
          <p:cNvGraphicFramePr>
            <a:graphicFrameLocks noGrp="1"/>
          </p:cNvGraphicFramePr>
          <p:nvPr>
            <p:ph sz="half" idx="2"/>
            <p:extLst>
              <p:ext uri="{D42A27DB-BD31-4B8C-83A1-F6EECF244321}">
                <p14:modId xmlns:p14="http://schemas.microsoft.com/office/powerpoint/2010/main" val="2582902703"/>
              </p:ext>
            </p:extLst>
          </p:nvPr>
        </p:nvGraphicFramePr>
        <p:xfrm>
          <a:off x="348045" y="2040835"/>
          <a:ext cx="11495910" cy="40442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9594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581CF-D4FC-41E2-02C2-9C15A4857844}"/>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707F144-1C32-F06E-ACD8-7B5735B063AC}"/>
              </a:ext>
            </a:extLst>
          </p:cNvPr>
          <p:cNvSpPr>
            <a:spLocks noGrp="1"/>
          </p:cNvSpPr>
          <p:nvPr>
            <p:ph type="title"/>
          </p:nvPr>
        </p:nvSpPr>
        <p:spPr>
          <a:xfrm>
            <a:off x="467359" y="816610"/>
            <a:ext cx="11267440" cy="553720"/>
          </a:xfrm>
        </p:spPr>
        <p:txBody>
          <a:bodyPr/>
          <a:lstStyle/>
          <a:p>
            <a:pPr>
              <a:buNone/>
            </a:pPr>
            <a:r>
              <a:rPr lang="en-US" sz="2800" b="1" dirty="0"/>
              <a:t>Control and Regulation</a:t>
            </a:r>
            <a:endParaRPr lang="en-US" sz="2800" dirty="0"/>
          </a:p>
        </p:txBody>
      </p:sp>
      <p:sp>
        <p:nvSpPr>
          <p:cNvPr id="20" name="Content Placeholder 3">
            <a:extLst>
              <a:ext uri="{FF2B5EF4-FFF2-40B4-BE49-F238E27FC236}">
                <a16:creationId xmlns:a16="http://schemas.microsoft.com/office/drawing/2014/main" id="{2124AD1B-223A-BCE0-E6AE-A551EAFF18DE}"/>
              </a:ext>
            </a:extLst>
          </p:cNvPr>
          <p:cNvSpPr>
            <a:spLocks noGrp="1"/>
          </p:cNvSpPr>
          <p:nvPr>
            <p:ph sz="half" idx="2"/>
          </p:nvPr>
        </p:nvSpPr>
        <p:spPr>
          <a:xfrm>
            <a:off x="467359" y="1484630"/>
            <a:ext cx="10607039" cy="4196080"/>
          </a:xfrm>
          <a:noFill/>
        </p:spPr>
        <p:txBody>
          <a:bodyPr>
            <a:noAutofit/>
          </a:bodyPr>
          <a:lstStyle/>
          <a:p>
            <a:r>
              <a:rPr lang="en-US" dirty="0"/>
              <a:t>Control and regulation of personal data are critical components of modern data privacy frameworks. Governments worldwide have introduced strict data protection laws to safeguard user privacy and ensure responsible data handling. The General Data Protection Regulation (GDPR) in the European Union, the California Consumer Privacy Act (CCPA) in the United States, and India's proposed Digital Personal Data Protection Bill are some examples of comprehensive data protection regulations. These laws give users more control over their personal data by requiring companies to obtain explicit consent before collecting, processing, or sharing data. They also mandate transparency in data handling, granting users the right to access, correct, and delete their data. In addition to these user rights, these regulations impose strict penalties for non-compliance, encouraging organizations to adopt robust data protection practices. However, implementing these regulations can be challenging, as companies must balance data-driven innovation with privacy protection while navigating complex legal requirements. This project aims to address these challenges by developing machine learning models that prioritize privacy, ensuring that user data is protected at every stage of its lifecycle.</a:t>
            </a:r>
          </a:p>
        </p:txBody>
      </p:sp>
    </p:spTree>
    <p:extLst>
      <p:ext uri="{BB962C8B-B14F-4D97-AF65-F5344CB8AC3E}">
        <p14:creationId xmlns:p14="http://schemas.microsoft.com/office/powerpoint/2010/main" val="2113832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61B17-58E8-30C8-7D83-7B486DB2D18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09CC2C3-C708-6227-78D2-90782B61073A}"/>
              </a:ext>
            </a:extLst>
          </p:cNvPr>
          <p:cNvSpPr>
            <a:spLocks noGrp="1"/>
          </p:cNvSpPr>
          <p:nvPr>
            <p:ph type="title"/>
          </p:nvPr>
        </p:nvSpPr>
        <p:spPr>
          <a:xfrm>
            <a:off x="1623061" y="667392"/>
            <a:ext cx="6115049" cy="553720"/>
          </a:xfrm>
        </p:spPr>
        <p:txBody>
          <a:bodyPr/>
          <a:lstStyle/>
          <a:p>
            <a:r>
              <a:rPr lang="en-US" b="1" dirty="0"/>
              <a:t>Risks of data collection</a:t>
            </a:r>
          </a:p>
        </p:txBody>
      </p:sp>
      <p:graphicFrame>
        <p:nvGraphicFramePr>
          <p:cNvPr id="4" name="Table 3">
            <a:extLst>
              <a:ext uri="{FF2B5EF4-FFF2-40B4-BE49-F238E27FC236}">
                <a16:creationId xmlns:a16="http://schemas.microsoft.com/office/drawing/2014/main" id="{145B502D-4488-0476-B87F-C0AE8F7A9BF1}"/>
              </a:ext>
            </a:extLst>
          </p:cNvPr>
          <p:cNvGraphicFramePr>
            <a:graphicFrameLocks noGrp="1"/>
          </p:cNvGraphicFramePr>
          <p:nvPr>
            <p:extLst>
              <p:ext uri="{D42A27DB-BD31-4B8C-83A1-F6EECF244321}">
                <p14:modId xmlns:p14="http://schemas.microsoft.com/office/powerpoint/2010/main" val="1026994804"/>
              </p:ext>
            </p:extLst>
          </p:nvPr>
        </p:nvGraphicFramePr>
        <p:xfrm>
          <a:off x="457200" y="1353820"/>
          <a:ext cx="11267439" cy="5486400"/>
        </p:xfrm>
        <a:graphic>
          <a:graphicData uri="http://schemas.openxmlformats.org/drawingml/2006/table">
            <a:tbl>
              <a:tblPr firstRow="1" bandRow="1">
                <a:tableStyleId>{912C8C85-51F0-491E-9774-3900AFEF0FD7}</a:tableStyleId>
              </a:tblPr>
              <a:tblGrid>
                <a:gridCol w="3755813">
                  <a:extLst>
                    <a:ext uri="{9D8B030D-6E8A-4147-A177-3AD203B41FA5}">
                      <a16:colId xmlns:a16="http://schemas.microsoft.com/office/drawing/2014/main" val="879806306"/>
                    </a:ext>
                  </a:extLst>
                </a:gridCol>
                <a:gridCol w="3755813">
                  <a:extLst>
                    <a:ext uri="{9D8B030D-6E8A-4147-A177-3AD203B41FA5}">
                      <a16:colId xmlns:a16="http://schemas.microsoft.com/office/drawing/2014/main" val="116218105"/>
                    </a:ext>
                  </a:extLst>
                </a:gridCol>
                <a:gridCol w="3755813">
                  <a:extLst>
                    <a:ext uri="{9D8B030D-6E8A-4147-A177-3AD203B41FA5}">
                      <a16:colId xmlns:a16="http://schemas.microsoft.com/office/drawing/2014/main" val="4166051085"/>
                    </a:ext>
                  </a:extLst>
                </a:gridCol>
              </a:tblGrid>
              <a:tr h="357032">
                <a:tc>
                  <a:txBody>
                    <a:bodyPr/>
                    <a:lstStyle/>
                    <a:p>
                      <a:pPr algn="ctr"/>
                      <a:r>
                        <a:rPr lang="en-US" b="1" dirty="0"/>
                        <a:t>Risk Category</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a:t>Description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a:t>Impact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4171535"/>
                  </a:ext>
                </a:extLst>
              </a:tr>
              <a:tr h="1144459">
                <a:tc>
                  <a:txBody>
                    <a:bodyPr/>
                    <a:lstStyle/>
                    <a:p>
                      <a:pPr algn="ctr"/>
                      <a:r>
                        <a:rPr lang="en-US" b="1" dirty="0"/>
                        <a:t>Privacy Violations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Unauthorized data collection can expose sensitive information like financial data, health records, and personal communications.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Identity theft, unauthorized profiling, loss of privacy.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0082353"/>
                  </a:ext>
                </a:extLst>
              </a:tr>
              <a:tr h="1144459">
                <a:tc>
                  <a:txBody>
                    <a:bodyPr/>
                    <a:lstStyle/>
                    <a:p>
                      <a:pPr algn="ctr"/>
                      <a:r>
                        <a:rPr lang="en-US" b="1"/>
                        <a:t>Data Misuse and Abuse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Data can be misused for targeted ads, political manipulation, or discriminatory practices without user consent.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Erosion of user trust, ethical concerns, legal penalties.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3683296"/>
                  </a:ext>
                </a:extLst>
              </a:tr>
              <a:tr h="880353">
                <a:tc>
                  <a:txBody>
                    <a:bodyPr/>
                    <a:lstStyle/>
                    <a:p>
                      <a:pPr algn="ctr"/>
                      <a:r>
                        <a:rPr lang="en-US" b="1"/>
                        <a:t>Security Threats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Centralized data storage creates a single point of failure, making it a target for hackers.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Financial losses, reputational damage, data breaches.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6224589"/>
                  </a:ext>
                </a:extLst>
              </a:tr>
              <a:tr h="880353">
                <a:tc>
                  <a:txBody>
                    <a:bodyPr/>
                    <a:lstStyle/>
                    <a:p>
                      <a:pPr algn="ctr"/>
                      <a:r>
                        <a:rPr lang="en-US" b="1"/>
                        <a:t>Loss of Consumer Trust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Repeated breaches can damage a company's reputation and reduce customer loyalty.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Reduced user engagement, loss of competitive advantage.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1327867"/>
                  </a:ext>
                </a:extLst>
              </a:tr>
              <a:tr h="880353">
                <a:tc>
                  <a:txBody>
                    <a:bodyPr/>
                    <a:lstStyle/>
                    <a:p>
                      <a:pPr algn="ctr"/>
                      <a:r>
                        <a:rPr lang="en-US" b="1" dirty="0"/>
                        <a:t>Regulatory and Legal Challenges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Strict regulations like GDPR and CCPA impose heavy fines for non-compliance.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Financial penalties, legal actions, operational disruptions.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2019595"/>
                  </a:ext>
                </a:extLst>
              </a:tr>
            </a:tbl>
          </a:graphicData>
        </a:graphic>
      </p:graphicFrame>
      <p:pic>
        <p:nvPicPr>
          <p:cNvPr id="6" name="Picture 5">
            <a:extLst>
              <a:ext uri="{FF2B5EF4-FFF2-40B4-BE49-F238E27FC236}">
                <a16:creationId xmlns:a16="http://schemas.microsoft.com/office/drawing/2014/main" id="{8AE585C6-C80A-3071-4316-D6B354588E6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762" b="96154" l="4098" r="96393">
                        <a14:foregroundMark x1="18033" y1="95604" x2="72131" y2="97253"/>
                        <a14:foregroundMark x1="72131" y1="97253" x2="86721" y2="94505"/>
                        <a14:foregroundMark x1="86721" y1="94505" x2="93115" y2="82601"/>
                        <a14:foregroundMark x1="93115" y1="82601" x2="62951" y2="11905"/>
                        <a14:foregroundMark x1="62951" y1="11905" x2="50820" y2="5311"/>
                        <a14:foregroundMark x1="50820" y1="5311" x2="37213" y2="15201"/>
                        <a14:foregroundMark x1="37213" y1="15201" x2="29344" y2="27289"/>
                        <a14:foregroundMark x1="11639" y1="69963" x2="7705" y2="85897"/>
                        <a14:foregroundMark x1="7705" y1="85897" x2="16885" y2="97985"/>
                        <a14:foregroundMark x1="16885" y1="97985" x2="27541" y2="99634"/>
                        <a14:foregroundMark x1="27541" y1="99634" x2="80656" y2="96154"/>
                        <a14:foregroundMark x1="80656" y1="96154" x2="81803" y2="95788"/>
                        <a14:foregroundMark x1="28361" y1="29670" x2="7377" y2="81502"/>
                        <a14:foregroundMark x1="7377" y1="81502" x2="7869" y2="89744"/>
                        <a14:foregroundMark x1="5738" y1="74908" x2="6066" y2="87363"/>
                        <a14:foregroundMark x1="6066" y1="87363" x2="8361" y2="90659"/>
                        <a14:foregroundMark x1="4262" y1="75458" x2="5902" y2="86264"/>
                        <a14:foregroundMark x1="62951" y1="98535" x2="92623" y2="95055"/>
                        <a14:foregroundMark x1="92623" y1="95055" x2="96393" y2="83883"/>
                        <a14:foregroundMark x1="96393" y1="83883" x2="92459" y2="66117"/>
                        <a14:foregroundMark x1="51148" y1="74359" x2="48197" y2="72527"/>
                        <a14:foregroundMark x1="51639" y1="48352" x2="52131" y2="34066"/>
                      </a14:backgroundRemoval>
                    </a14:imgEffect>
                  </a14:imgLayer>
                </a14:imgProps>
              </a:ext>
            </a:extLst>
          </a:blip>
          <a:stretch>
            <a:fillRect/>
          </a:stretch>
        </p:blipFill>
        <p:spPr>
          <a:xfrm>
            <a:off x="890335" y="616327"/>
            <a:ext cx="732726" cy="655850"/>
          </a:xfrm>
          <a:prstGeom prst="rect">
            <a:avLst/>
          </a:prstGeom>
        </p:spPr>
      </p:pic>
    </p:spTree>
    <p:extLst>
      <p:ext uri="{BB962C8B-B14F-4D97-AF65-F5344CB8AC3E}">
        <p14:creationId xmlns:p14="http://schemas.microsoft.com/office/powerpoint/2010/main" val="888684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0">
            <a:extLst>
              <a:ext uri="{FF2B5EF4-FFF2-40B4-BE49-F238E27FC236}">
                <a16:creationId xmlns:a16="http://schemas.microsoft.com/office/drawing/2014/main" id="{2D2C9A6D-9C07-658E-76CD-A797A9085245}"/>
              </a:ext>
            </a:extLst>
          </p:cNvPr>
          <p:cNvSpPr txBox="1">
            <a:spLocks/>
          </p:cNvSpPr>
          <p:nvPr/>
        </p:nvSpPr>
        <p:spPr>
          <a:xfrm>
            <a:off x="489753" y="672930"/>
            <a:ext cx="11029616" cy="656436"/>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CNN for Image Forgery Detection</a:t>
            </a:r>
            <a:endParaRPr lang="en-US" dirty="0"/>
          </a:p>
        </p:txBody>
      </p:sp>
      <p:sp>
        <p:nvSpPr>
          <p:cNvPr id="9" name="Content Placeholder 3">
            <a:extLst>
              <a:ext uri="{FF2B5EF4-FFF2-40B4-BE49-F238E27FC236}">
                <a16:creationId xmlns:a16="http://schemas.microsoft.com/office/drawing/2014/main" id="{7ECF72F1-CECA-5E17-B3FB-0125A1E88C66}"/>
              </a:ext>
            </a:extLst>
          </p:cNvPr>
          <p:cNvSpPr txBox="1">
            <a:spLocks/>
          </p:cNvSpPr>
          <p:nvPr/>
        </p:nvSpPr>
        <p:spPr>
          <a:xfrm>
            <a:off x="489753" y="1567957"/>
            <a:ext cx="6917210" cy="5050013"/>
          </a:xfrm>
          <a:prstGeom prst="rect">
            <a:avLst/>
          </a:prstGeom>
        </p:spPr>
        <p:txBody>
          <a:bodyPr vert="horz" lIns="91440" tIns="45720" rIns="91440" bIns="45720" rtlCol="0" anchor="ctr">
            <a:noAutofit/>
          </a:bodyPr>
          <a:lstStyle>
            <a:lvl1pPr marL="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1800" kern="1200">
                <a:solidFill>
                  <a:schemeClr val="tx1">
                    <a:lumMod val="75000"/>
                    <a:lumOff val="25000"/>
                  </a:schemeClr>
                </a:solidFill>
                <a:latin typeface="+mn-lt"/>
                <a:ea typeface="+mn-ea"/>
                <a:cs typeface="+mn-cs"/>
              </a:defRPr>
            </a:lvl1pPr>
            <a:lvl2pPr marL="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2pPr>
            <a:lvl3pPr marL="54864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3pPr>
            <a:lvl4pPr marL="82296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4pPr>
            <a:lvl5pPr marL="109728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285750" indent="-285750">
              <a:lnSpc>
                <a:spcPct val="90000"/>
              </a:lnSpc>
              <a:buFont typeface="Wingdings 2" panose="05020102010507070707" pitchFamily="18" charset="2"/>
              <a:buChar char=""/>
            </a:pPr>
            <a:r>
              <a:rPr lang="en-US" sz="1700"/>
              <a:t>Convolutional Neural Networks (CNNs) have emerged as powerful tools for image analysis and classification, making them highly effective for detecting image forgeries. Image forgeries, including deepfakes and digitally manipulated content, pose significant privacy and security challenges, as they can be used to spread misinformation, commit fraud, and manipulate public opinion. </a:t>
            </a:r>
          </a:p>
          <a:p>
            <a:pPr marL="285750" indent="-285750">
              <a:lnSpc>
                <a:spcPct val="90000"/>
              </a:lnSpc>
              <a:buFont typeface="Wingdings 2" panose="05020102010507070707" pitchFamily="18" charset="2"/>
              <a:buChar char=""/>
            </a:pPr>
            <a:r>
              <a:rPr lang="en-US" sz="1700"/>
              <a:t>CNNs are particularly well-suited for this task because they can automatically learn hierarchical features from raw image data, capturing subtle differences in texture, color distribution, and pixel-level inconsistencies that may indicate tampering. Traditional image analysis methods often rely on handcrafted features, which can be easily bypassed by advanced forgers. </a:t>
            </a:r>
          </a:p>
          <a:p>
            <a:pPr marL="285750" indent="-285750">
              <a:lnSpc>
                <a:spcPct val="90000"/>
              </a:lnSpc>
              <a:buFont typeface="Wingdings 2" panose="05020102010507070707" pitchFamily="18" charset="2"/>
              <a:buChar char=""/>
            </a:pPr>
            <a:r>
              <a:rPr lang="en-US" sz="1700"/>
              <a:t>In contrast, CNNs can identify complex patterns in the data without manual feature engineering, making them more robust against sophisticated attacks. By combining CNNs with preprocessing techniques like Error Level Analysis (ELA), it is possible to improve detection accuracy by highlighting the regions of an image most likely to have been altered. </a:t>
            </a:r>
          </a:p>
          <a:p>
            <a:pPr marL="285750" indent="-285750">
              <a:lnSpc>
                <a:spcPct val="90000"/>
              </a:lnSpc>
              <a:buFont typeface="Wingdings 2" panose="05020102010507070707" pitchFamily="18" charset="2"/>
              <a:buChar char=""/>
            </a:pPr>
            <a:r>
              <a:rPr lang="en-US" sz="1700"/>
              <a:t>This project aims to leverage CNNs for detecting image forgeries, enhancing data integrity, and strengthening overall privacy protection.</a:t>
            </a:r>
            <a:endParaRPr lang="en-US" sz="1700" dirty="0"/>
          </a:p>
        </p:txBody>
      </p:sp>
      <p:pic>
        <p:nvPicPr>
          <p:cNvPr id="10" name="Picture 2" descr="How to Build a Convolutional Neural Network for Computer Vision? - Nomidl">
            <a:extLst>
              <a:ext uri="{FF2B5EF4-FFF2-40B4-BE49-F238E27FC236}">
                <a16:creationId xmlns:a16="http://schemas.microsoft.com/office/drawing/2014/main" id="{128561E5-31EB-68BF-CBB9-5B79EB25C90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29525" y="2259442"/>
            <a:ext cx="4277562" cy="2110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023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FDF15-F532-9C6D-F795-933E725BA51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BD76587-284F-E737-464B-D62C840D4EE0}"/>
              </a:ext>
            </a:extLst>
          </p:cNvPr>
          <p:cNvSpPr>
            <a:spLocks noGrp="1"/>
          </p:cNvSpPr>
          <p:nvPr>
            <p:ph type="title"/>
          </p:nvPr>
        </p:nvSpPr>
        <p:spPr>
          <a:xfrm>
            <a:off x="467359" y="623570"/>
            <a:ext cx="11267440" cy="553720"/>
          </a:xfrm>
        </p:spPr>
        <p:txBody>
          <a:bodyPr/>
          <a:lstStyle/>
          <a:p>
            <a:pPr>
              <a:buNone/>
            </a:pPr>
            <a:r>
              <a:rPr lang="en-US" b="1" dirty="0"/>
              <a:t>CNN Architecture</a:t>
            </a:r>
            <a:endParaRPr lang="en-US" dirty="0"/>
          </a:p>
        </p:txBody>
      </p:sp>
      <p:sp>
        <p:nvSpPr>
          <p:cNvPr id="20" name="Content Placeholder 3">
            <a:extLst>
              <a:ext uri="{FF2B5EF4-FFF2-40B4-BE49-F238E27FC236}">
                <a16:creationId xmlns:a16="http://schemas.microsoft.com/office/drawing/2014/main" id="{05DEC482-58A0-0B12-0EE1-A8B2FD2076F5}"/>
              </a:ext>
            </a:extLst>
          </p:cNvPr>
          <p:cNvSpPr>
            <a:spLocks noGrp="1"/>
          </p:cNvSpPr>
          <p:nvPr>
            <p:ph sz="half" idx="2"/>
          </p:nvPr>
        </p:nvSpPr>
        <p:spPr>
          <a:xfrm>
            <a:off x="758190" y="1177290"/>
            <a:ext cx="10675619" cy="5373370"/>
          </a:xfrm>
          <a:noFill/>
        </p:spPr>
        <p:txBody>
          <a:bodyPr numCol="2">
            <a:noAutofit/>
          </a:bodyPr>
          <a:lstStyle/>
          <a:p>
            <a:pPr marL="182563" indent="-182563">
              <a:buFont typeface="Arial" panose="020B0604020202020204" pitchFamily="34" charset="0"/>
              <a:buChar char="•"/>
            </a:pPr>
            <a:r>
              <a:rPr lang="en-US" sz="1600" b="1" dirty="0"/>
              <a:t>Convolutional Layers:</a:t>
            </a:r>
            <a:endParaRPr lang="en-US" sz="1600" dirty="0"/>
          </a:p>
          <a:p>
            <a:pPr marL="742950" lvl="1" indent="-285750">
              <a:buFont typeface="Arial" panose="020B0604020202020204" pitchFamily="34" charset="0"/>
              <a:buChar char="•"/>
            </a:pPr>
            <a:r>
              <a:rPr lang="en-US" sz="1600" dirty="0"/>
              <a:t>Apply filters to the input image to detect low-level features like edges, textures, and color gradients.</a:t>
            </a:r>
          </a:p>
          <a:p>
            <a:pPr marL="742950" lvl="1" indent="-285750">
              <a:buFont typeface="Arial" panose="020B0604020202020204" pitchFamily="34" charset="0"/>
              <a:buChar char="•"/>
            </a:pPr>
            <a:r>
              <a:rPr lang="en-US" sz="1600" dirty="0"/>
              <a:t>Use small, learnable filters (kernels) that slide across the image to create feature maps.</a:t>
            </a:r>
          </a:p>
          <a:p>
            <a:pPr marL="742950" lvl="1" indent="-285750">
              <a:buFont typeface="Arial" panose="020B0604020202020204" pitchFamily="34" charset="0"/>
              <a:buChar char="•"/>
            </a:pPr>
            <a:r>
              <a:rPr lang="en-US" sz="1600" dirty="0"/>
              <a:t>Capture spatial hierarchies by detecting increasingly complex patterns at deeper layers.</a:t>
            </a:r>
          </a:p>
          <a:p>
            <a:pPr marL="182563" indent="-182563">
              <a:buFont typeface="Arial" panose="020B0604020202020204" pitchFamily="34" charset="0"/>
              <a:buChar char="•"/>
            </a:pPr>
            <a:r>
              <a:rPr lang="en-US" sz="1600" b="1" dirty="0"/>
              <a:t>Pooling Layers:</a:t>
            </a:r>
            <a:endParaRPr lang="en-US" sz="1600" dirty="0"/>
          </a:p>
          <a:p>
            <a:pPr marL="742950" lvl="1" indent="-285750">
              <a:buFont typeface="Arial" panose="020B0604020202020204" pitchFamily="34" charset="0"/>
              <a:buChar char="•"/>
            </a:pPr>
            <a:r>
              <a:rPr lang="en-US" sz="1600" dirty="0"/>
              <a:t>Reduce the dimensionality of feature maps, making the network more computationally efficient.</a:t>
            </a:r>
          </a:p>
          <a:p>
            <a:pPr marL="742950" lvl="1" indent="-285750">
              <a:buFont typeface="Arial" panose="020B0604020202020204" pitchFamily="34" charset="0"/>
              <a:buChar char="•"/>
            </a:pPr>
            <a:r>
              <a:rPr lang="en-US" sz="1600" dirty="0"/>
              <a:t>Common methods include </a:t>
            </a:r>
            <a:r>
              <a:rPr lang="en-US" sz="1600" b="1" dirty="0"/>
              <a:t>Max Pooling</a:t>
            </a:r>
            <a:r>
              <a:rPr lang="en-US" sz="1600" dirty="0"/>
              <a:t> and </a:t>
            </a:r>
            <a:r>
              <a:rPr lang="en-US" sz="1600" b="1" dirty="0"/>
              <a:t>Average Pooling</a:t>
            </a:r>
            <a:r>
              <a:rPr lang="en-US" sz="1600" dirty="0"/>
              <a:t>, which select the most significant features from each region.</a:t>
            </a:r>
          </a:p>
          <a:p>
            <a:pPr marL="742950" lvl="1" indent="-285750">
              <a:buFont typeface="Arial" panose="020B0604020202020204" pitchFamily="34" charset="0"/>
              <a:buChar char="•"/>
            </a:pPr>
            <a:r>
              <a:rPr lang="en-US" sz="1600" dirty="0"/>
              <a:t>Helps prevent overfitting by reducing the number of parameters.</a:t>
            </a:r>
          </a:p>
          <a:p>
            <a:pPr marL="182563" indent="-182563">
              <a:buFont typeface="Arial" panose="020B0604020202020204" pitchFamily="34" charset="0"/>
              <a:buChar char="•"/>
            </a:pPr>
            <a:r>
              <a:rPr lang="en-US" sz="1600" b="1" dirty="0"/>
              <a:t>Fully Connected Layers:</a:t>
            </a:r>
            <a:endParaRPr lang="en-US" sz="1600" dirty="0"/>
          </a:p>
          <a:p>
            <a:pPr marL="742950" lvl="1" indent="-285750">
              <a:buFont typeface="Arial" panose="020B0604020202020204" pitchFamily="34" charset="0"/>
              <a:buChar char="•"/>
            </a:pPr>
            <a:r>
              <a:rPr lang="en-US" sz="1600" dirty="0"/>
              <a:t>Flatten the output from the convolutional layers into a 1D vector.</a:t>
            </a:r>
          </a:p>
          <a:p>
            <a:pPr marL="742950" lvl="1" indent="-285750">
              <a:buFont typeface="Arial" panose="020B0604020202020204" pitchFamily="34" charset="0"/>
              <a:buChar char="•"/>
            </a:pPr>
            <a:r>
              <a:rPr lang="en-US" sz="1600" dirty="0"/>
              <a:t>Act as a traditional neural network, learning high-level representations for classification.</a:t>
            </a:r>
          </a:p>
          <a:p>
            <a:pPr marL="742950" lvl="1" indent="-285750">
              <a:buFont typeface="Arial" panose="020B0604020202020204" pitchFamily="34" charset="0"/>
              <a:buChar char="•"/>
            </a:pPr>
            <a:r>
              <a:rPr lang="en-US" sz="1600" dirty="0"/>
              <a:t>Often include </a:t>
            </a:r>
            <a:r>
              <a:rPr lang="en-US" sz="1600" b="1" dirty="0"/>
              <a:t>Dropout</a:t>
            </a:r>
            <a:r>
              <a:rPr lang="en-US" sz="1600" dirty="0"/>
              <a:t> layers to prevent overfitting by randomly disabling neurons during training.</a:t>
            </a:r>
          </a:p>
          <a:p>
            <a:pPr marL="182563" indent="-182563">
              <a:buFont typeface="Arial" panose="020B0604020202020204" pitchFamily="34" charset="0"/>
              <a:buChar char="•"/>
            </a:pPr>
            <a:r>
              <a:rPr lang="en-US" sz="1600" b="1" dirty="0"/>
              <a:t>Activation Functions:</a:t>
            </a:r>
            <a:endParaRPr lang="en-US" sz="1600" dirty="0"/>
          </a:p>
          <a:p>
            <a:pPr marL="742950" lvl="1" indent="-285750">
              <a:buFont typeface="Arial" panose="020B0604020202020204" pitchFamily="34" charset="0"/>
              <a:buChar char="•"/>
            </a:pPr>
            <a:r>
              <a:rPr lang="en-US" sz="1600" dirty="0"/>
              <a:t>Use non-linear functions like </a:t>
            </a:r>
            <a:r>
              <a:rPr lang="en-US" sz="1600" b="1" dirty="0"/>
              <a:t>ReLU (Rectified Linear Unit)</a:t>
            </a:r>
            <a:r>
              <a:rPr lang="en-US" sz="1600" dirty="0"/>
              <a:t> to introduce non-linearity and improve learning.</a:t>
            </a:r>
          </a:p>
          <a:p>
            <a:pPr marL="742950" lvl="1" indent="-285750">
              <a:buFont typeface="Arial" panose="020B0604020202020204" pitchFamily="34" charset="0"/>
              <a:buChar char="•"/>
            </a:pPr>
            <a:r>
              <a:rPr lang="en-US" sz="1600" dirty="0"/>
              <a:t>Final layer typically uses </a:t>
            </a:r>
            <a:r>
              <a:rPr lang="en-US" sz="1600" b="1" dirty="0" err="1"/>
              <a:t>Softmax</a:t>
            </a:r>
            <a:r>
              <a:rPr lang="en-US" sz="1600" dirty="0"/>
              <a:t> (for multi-class classification) or </a:t>
            </a:r>
            <a:r>
              <a:rPr lang="en-US" sz="1600" b="1" dirty="0"/>
              <a:t>Sigmoid</a:t>
            </a:r>
            <a:r>
              <a:rPr lang="en-US" sz="1600" dirty="0"/>
              <a:t> (for binary classification) to output class probabilities.</a:t>
            </a:r>
          </a:p>
          <a:p>
            <a:pPr marL="182563" indent="-182563">
              <a:buFont typeface="Arial" panose="020B0604020202020204" pitchFamily="34" charset="0"/>
              <a:buChar char="•"/>
            </a:pPr>
            <a:r>
              <a:rPr lang="en-US" sz="1600" b="1" dirty="0"/>
              <a:t>Regularization Techniques:</a:t>
            </a:r>
            <a:endParaRPr lang="en-US" sz="1600" dirty="0"/>
          </a:p>
          <a:p>
            <a:pPr marL="742950" lvl="1" indent="-285750">
              <a:buFont typeface="Arial" panose="020B0604020202020204" pitchFamily="34" charset="0"/>
              <a:buChar char="•"/>
            </a:pPr>
            <a:r>
              <a:rPr lang="en-US" sz="1600" dirty="0"/>
              <a:t>Include methods like </a:t>
            </a:r>
            <a:r>
              <a:rPr lang="en-US" sz="1600" b="1" dirty="0"/>
              <a:t>Batch Normalization</a:t>
            </a:r>
            <a:r>
              <a:rPr lang="en-US" sz="1600" dirty="0"/>
              <a:t> and </a:t>
            </a:r>
            <a:r>
              <a:rPr lang="en-US" sz="1600" b="1" dirty="0"/>
              <a:t>Dropout</a:t>
            </a:r>
            <a:r>
              <a:rPr lang="en-US" sz="1600" dirty="0"/>
              <a:t> to improve training stability and generalization.</a:t>
            </a:r>
          </a:p>
          <a:p>
            <a:pPr marL="742950" lvl="1" indent="-285750">
              <a:buFont typeface="Arial" panose="020B0604020202020204" pitchFamily="34" charset="0"/>
              <a:buChar char="•"/>
            </a:pPr>
            <a:r>
              <a:rPr lang="en-US" sz="1600" dirty="0"/>
              <a:t>Reduce the risk of overfitting, enhancing model robustness.</a:t>
            </a:r>
          </a:p>
        </p:txBody>
      </p:sp>
    </p:spTree>
    <p:extLst>
      <p:ext uri="{BB962C8B-B14F-4D97-AF65-F5344CB8AC3E}">
        <p14:creationId xmlns:p14="http://schemas.microsoft.com/office/powerpoint/2010/main" val="440028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810ADD-AAA9-B37A-0483-6D50B00EE6CA}"/>
            </a:ext>
          </a:extLst>
        </p:cNvPr>
        <p:cNvGrpSpPr/>
        <p:nvPr/>
      </p:nvGrpSpPr>
      <p:grpSpPr>
        <a:xfrm>
          <a:off x="0" y="0"/>
          <a:ext cx="0" cy="0"/>
          <a:chOff x="0" y="0"/>
          <a:chExt cx="0" cy="0"/>
        </a:xfrm>
      </p:grpSpPr>
      <p:sp>
        <p:nvSpPr>
          <p:cNvPr id="7177" name="Rectangle 7176">
            <a:extLst>
              <a:ext uri="{FF2B5EF4-FFF2-40B4-BE49-F238E27FC236}">
                <a16:creationId xmlns:a16="http://schemas.microsoft.com/office/drawing/2014/main" id="{910015B9-6046-41B8-83BD-71778D2F9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79" name="Rectangle 7178">
            <a:extLst>
              <a:ext uri="{FF2B5EF4-FFF2-40B4-BE49-F238E27FC236}">
                <a16:creationId xmlns:a16="http://schemas.microsoft.com/office/drawing/2014/main" id="{53908232-52E2-4794-A6C1-54300FB989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1" name="Rectangle 7180">
            <a:extLst>
              <a:ext uri="{FF2B5EF4-FFF2-40B4-BE49-F238E27FC236}">
                <a16:creationId xmlns:a16="http://schemas.microsoft.com/office/drawing/2014/main" id="{D2B9299F-BED7-44C5-9CC5-E542F9193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Title 10">
            <a:extLst>
              <a:ext uri="{FF2B5EF4-FFF2-40B4-BE49-F238E27FC236}">
                <a16:creationId xmlns:a16="http://schemas.microsoft.com/office/drawing/2014/main" id="{406EB7EC-6C51-4D00-79F0-38058E71B643}"/>
              </a:ext>
            </a:extLst>
          </p:cNvPr>
          <p:cNvSpPr>
            <a:spLocks noGrp="1"/>
          </p:cNvSpPr>
          <p:nvPr>
            <p:ph type="title"/>
          </p:nvPr>
        </p:nvSpPr>
        <p:spPr>
          <a:xfrm>
            <a:off x="581192" y="702156"/>
            <a:ext cx="7225075" cy="1326267"/>
          </a:xfrm>
        </p:spPr>
        <p:txBody>
          <a:bodyPr vert="horz" lIns="91440" tIns="45720" rIns="91440" bIns="45720" rtlCol="0" anchor="b">
            <a:normAutofit/>
          </a:bodyPr>
          <a:lstStyle/>
          <a:p>
            <a:r>
              <a:rPr lang="en-US" b="1" kern="1200" cap="all" dirty="0">
                <a:solidFill>
                  <a:schemeClr val="tx1">
                    <a:lumMod val="75000"/>
                    <a:lumOff val="25000"/>
                  </a:schemeClr>
                </a:solidFill>
                <a:latin typeface="+mj-lt"/>
                <a:ea typeface="+mj-ea"/>
                <a:cs typeface="+mj-cs"/>
              </a:rPr>
              <a:t>Proposed Methodology</a:t>
            </a:r>
          </a:p>
        </p:txBody>
      </p:sp>
      <p:sp>
        <p:nvSpPr>
          <p:cNvPr id="20" name="Content Placeholder 3">
            <a:extLst>
              <a:ext uri="{FF2B5EF4-FFF2-40B4-BE49-F238E27FC236}">
                <a16:creationId xmlns:a16="http://schemas.microsoft.com/office/drawing/2014/main" id="{FC73C383-1FF9-2979-EF6A-99359524F6F3}"/>
              </a:ext>
            </a:extLst>
          </p:cNvPr>
          <p:cNvSpPr>
            <a:spLocks noGrp="1"/>
          </p:cNvSpPr>
          <p:nvPr>
            <p:ph sz="half" idx="2"/>
          </p:nvPr>
        </p:nvSpPr>
        <p:spPr>
          <a:xfrm>
            <a:off x="581192" y="2180496"/>
            <a:ext cx="7225075" cy="3678303"/>
          </a:xfrm>
        </p:spPr>
        <p:txBody>
          <a:bodyPr vert="horz" lIns="91440" tIns="45720" rIns="91440" bIns="45720" rtlCol="0" anchor="ctr">
            <a:normAutofit/>
          </a:bodyPr>
          <a:lstStyle/>
          <a:p>
            <a:pPr>
              <a:lnSpc>
                <a:spcPct val="90000"/>
              </a:lnSpc>
              <a:buFont typeface="Wingdings 2" panose="05020102010507070707" pitchFamily="18" charset="2"/>
              <a:buChar char=""/>
            </a:pPr>
            <a:r>
              <a:rPr lang="en-US" dirty="0"/>
              <a:t>This project employs a combination of Error Level Analysis (ELA) and Generative Adversarial Networks (GANs) to enhance privacy preservation and improve image forgery detection accuracy. Initially, ELA is applied to highlight areas of an image that have been digitally altered by analyzing compression artifacts, which serve as indicators of tampering. To address the limitations of available training data, GANs are used to augment the dataset by generating realistic synthetic images, thus providing a richer and more diverse training set. The augmented data improves the training of the Convolutional Neural Network (CNN), enabling it to better distinguish between authentic and forged images. The CNN model is trained and validated using this enhanced dataset, and its performance is evaluated based on accuracy, precision, recall, and F1-score metrics. This methodology aims to strengthen privacy by ensuring data integrity and detecting manipulations effectively in real-world scenarios.</a:t>
            </a:r>
          </a:p>
        </p:txBody>
      </p:sp>
      <p:pic>
        <p:nvPicPr>
          <p:cNvPr id="7170" name="Picture 2" descr="Overview of GAN Structure | Machine Learning | Google for Developers">
            <a:extLst>
              <a:ext uri="{FF2B5EF4-FFF2-40B4-BE49-F238E27FC236}">
                <a16:creationId xmlns:a16="http://schemas.microsoft.com/office/drawing/2014/main" id="{0D1D04C0-8744-701F-47E9-41158884E7B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51799" y="1140145"/>
            <a:ext cx="3699935" cy="184308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Forensics | Error Level Analysis">
            <a:extLst>
              <a:ext uri="{FF2B5EF4-FFF2-40B4-BE49-F238E27FC236}">
                <a16:creationId xmlns:a16="http://schemas.microsoft.com/office/drawing/2014/main" id="{1510B56A-02FA-BE4D-FA0A-9B36699F3F6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755214" y="3589866"/>
            <a:ext cx="2719599" cy="3108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720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5D7466-BD25-05FB-ED69-5A16D3C41985}"/>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1" name="Rectangle 30">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F95A7D9E-F78E-1294-2AC3-3830F7788F1F}"/>
              </a:ext>
            </a:extLst>
          </p:cNvPr>
          <p:cNvSpPr>
            <a:spLocks noGrp="1"/>
          </p:cNvSpPr>
          <p:nvPr>
            <p:ph type="title"/>
          </p:nvPr>
        </p:nvSpPr>
        <p:spPr>
          <a:xfrm>
            <a:off x="581192" y="702156"/>
            <a:ext cx="11029616" cy="1188720"/>
          </a:xfrm>
        </p:spPr>
        <p:txBody>
          <a:bodyPr vert="horz" lIns="91440" tIns="45720" rIns="91440" bIns="45720" rtlCol="0" anchor="b">
            <a:normAutofit/>
          </a:bodyPr>
          <a:lstStyle/>
          <a:p>
            <a:r>
              <a:rPr lang="en-US" b="1" dirty="0"/>
              <a:t>Results - Baseline Model</a:t>
            </a:r>
          </a:p>
        </p:txBody>
      </p:sp>
      <p:sp>
        <p:nvSpPr>
          <p:cNvPr id="33" name="Rectangle 32">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graph showing the performance of a performance&#10;&#10;AI-generated content may be incorrect.">
            <a:extLst>
              <a:ext uri="{FF2B5EF4-FFF2-40B4-BE49-F238E27FC236}">
                <a16:creationId xmlns:a16="http://schemas.microsoft.com/office/drawing/2014/main" id="{B19CD5E4-9D0E-D1EA-3091-612BB9AB3C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935258" y="2499053"/>
            <a:ext cx="4462846" cy="3570277"/>
          </a:xfrm>
          <a:prstGeom prst="rect">
            <a:avLst/>
          </a:prstGeom>
          <a:noFill/>
        </p:spPr>
      </p:pic>
      <p:sp>
        <p:nvSpPr>
          <p:cNvPr id="20" name="Content Placeholder 3">
            <a:extLst>
              <a:ext uri="{FF2B5EF4-FFF2-40B4-BE49-F238E27FC236}">
                <a16:creationId xmlns:a16="http://schemas.microsoft.com/office/drawing/2014/main" id="{891DB4C9-2619-E500-CA3E-1E1A3D7627F1}"/>
              </a:ext>
            </a:extLst>
          </p:cNvPr>
          <p:cNvSpPr>
            <a:spLocks noGrp="1"/>
          </p:cNvSpPr>
          <p:nvPr>
            <p:ph sz="half" idx="2"/>
          </p:nvPr>
        </p:nvSpPr>
        <p:spPr>
          <a:xfrm>
            <a:off x="6335805" y="2180496"/>
            <a:ext cx="5275001" cy="4045683"/>
          </a:xfrm>
        </p:spPr>
        <p:txBody>
          <a:bodyPr vert="horz" lIns="91440" tIns="45720" rIns="91440" bIns="45720" rtlCol="0" anchor="ctr">
            <a:normAutofit/>
          </a:bodyPr>
          <a:lstStyle/>
          <a:p>
            <a:pPr>
              <a:lnSpc>
                <a:spcPct val="90000"/>
              </a:lnSpc>
              <a:buFont typeface="Wingdings 2" panose="05020102010507070707" pitchFamily="18" charset="2"/>
              <a:buChar char=""/>
            </a:pPr>
            <a:r>
              <a:rPr lang="en-US" dirty="0"/>
              <a:t>The baseline model was trained using the original dataset without any augmentation. While it demonstrated the ability to detect some forged images, its overall accuracy and robustness were limited due to the relatively small size and lack of diversity in the training data. The model showed challenges in accurately identifying subtle manipulations and was prone to higher false positives and false negatives. These limitations highlight the need for improved data augmentation techniques and more sophisticated training approaches. The results provide a benchmark against which the performance of the augmented model can be compared, emphasizing the importance of enhancing the training dataset for better privacy-preserving image forgery detection.</a:t>
            </a:r>
            <a:endParaRPr lang="en-US"/>
          </a:p>
        </p:txBody>
      </p:sp>
    </p:spTree>
    <p:extLst>
      <p:ext uri="{BB962C8B-B14F-4D97-AF65-F5344CB8AC3E}">
        <p14:creationId xmlns:p14="http://schemas.microsoft.com/office/powerpoint/2010/main" val="2365947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F8F86E-E2EA-9CF6-4D51-5CBE4BD1FA11}"/>
            </a:ext>
          </a:extLst>
        </p:cNvPr>
        <p:cNvGrpSpPr/>
        <p:nvPr/>
      </p:nvGrpSpPr>
      <p:grpSpPr>
        <a:xfrm>
          <a:off x="0" y="0"/>
          <a:ext cx="0" cy="0"/>
          <a:chOff x="0" y="0"/>
          <a:chExt cx="0" cy="0"/>
        </a:xfrm>
      </p:grpSpPr>
      <p:sp>
        <p:nvSpPr>
          <p:cNvPr id="44" name="Rectangle 43">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Rectangle 45">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Rectangle 47">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0" name="Rectangle 49">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DD2C4447-C573-6802-713B-0CB598331ECA}"/>
              </a:ext>
            </a:extLst>
          </p:cNvPr>
          <p:cNvSpPr>
            <a:spLocks noGrp="1"/>
          </p:cNvSpPr>
          <p:nvPr>
            <p:ph type="title"/>
          </p:nvPr>
        </p:nvSpPr>
        <p:spPr>
          <a:xfrm>
            <a:off x="581192" y="702156"/>
            <a:ext cx="11029616" cy="1188720"/>
          </a:xfrm>
        </p:spPr>
        <p:txBody>
          <a:bodyPr vert="horz" lIns="91440" tIns="45720" rIns="91440" bIns="45720" rtlCol="0" anchor="b">
            <a:normAutofit/>
          </a:bodyPr>
          <a:lstStyle/>
          <a:p>
            <a:r>
              <a:rPr lang="en-US" b="1" dirty="0"/>
              <a:t>Results - Augmented Model</a:t>
            </a:r>
          </a:p>
        </p:txBody>
      </p:sp>
      <p:sp>
        <p:nvSpPr>
          <p:cNvPr id="52" name="Rectangle 51">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Rectangle 53">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6" name="Rectangle 55">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8" name="Rectangle 57">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 showing the difference between a model and a model&#10;&#10;AI-generated content may be incorrect.">
            <a:extLst>
              <a:ext uri="{FF2B5EF4-FFF2-40B4-BE49-F238E27FC236}">
                <a16:creationId xmlns:a16="http://schemas.microsoft.com/office/drawing/2014/main" id="{C622ECAB-CABA-1280-6A87-0232780EA9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1026698" y="2499053"/>
            <a:ext cx="4256741" cy="3405393"/>
          </a:xfrm>
          <a:prstGeom prst="rect">
            <a:avLst/>
          </a:prstGeom>
          <a:noFill/>
        </p:spPr>
      </p:pic>
      <p:sp>
        <p:nvSpPr>
          <p:cNvPr id="20" name="Content Placeholder 3">
            <a:extLst>
              <a:ext uri="{FF2B5EF4-FFF2-40B4-BE49-F238E27FC236}">
                <a16:creationId xmlns:a16="http://schemas.microsoft.com/office/drawing/2014/main" id="{4ABA481A-75AC-3DF8-5504-8761EC306BCC}"/>
              </a:ext>
            </a:extLst>
          </p:cNvPr>
          <p:cNvSpPr>
            <a:spLocks noGrp="1"/>
          </p:cNvSpPr>
          <p:nvPr>
            <p:ph sz="half" idx="2"/>
          </p:nvPr>
        </p:nvSpPr>
        <p:spPr>
          <a:xfrm>
            <a:off x="6335805" y="2180496"/>
            <a:ext cx="5275001" cy="4045683"/>
          </a:xfrm>
        </p:spPr>
        <p:txBody>
          <a:bodyPr vert="horz" lIns="91440" tIns="45720" rIns="91440" bIns="45720" rtlCol="0" anchor="ctr">
            <a:normAutofit/>
          </a:bodyPr>
          <a:lstStyle/>
          <a:p>
            <a:pPr>
              <a:lnSpc>
                <a:spcPct val="90000"/>
              </a:lnSpc>
              <a:buFont typeface="Wingdings 2" panose="05020102010507070707" pitchFamily="18" charset="2"/>
              <a:buChar char=""/>
            </a:pPr>
            <a:r>
              <a:rPr lang="en-US" dirty="0"/>
              <a:t>The augmented model, trained with additional synthetic images generated using Generative Adversarial Networks (GANs), demonstrated significant improvements over the baseline. The increased diversity and volume of training data allowed the model to better generalize and accurately detect subtle image manipulations. This led to higher accuracy, improved precision, recall, and F1-score metrics. The augmentation approach effectively addressed the limitations of the baseline model, reducing false positives and negatives and enhancing the model's robustness in real-world scenarios. These results validate the effectiveness of GAN-based data augmentation in strengthening privacy protection through improved image forgery detection.</a:t>
            </a:r>
            <a:endParaRPr lang="en-US"/>
          </a:p>
        </p:txBody>
      </p:sp>
    </p:spTree>
    <p:extLst>
      <p:ext uri="{BB962C8B-B14F-4D97-AF65-F5344CB8AC3E}">
        <p14:creationId xmlns:p14="http://schemas.microsoft.com/office/powerpoint/2010/main" val="1706719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8B3AB7-1D0D-DC50-29C8-A126D3E7EDD0}"/>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1" name="Rectangle 30">
            <a:extLst>
              <a:ext uri="{FF2B5EF4-FFF2-40B4-BE49-F238E27FC236}">
                <a16:creationId xmlns:a16="http://schemas.microsoft.com/office/drawing/2014/main" id="{8D2B4922-7602-46A0-9EEB-1F737C65FE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C3D761E7-EC84-B421-0AA3-E13A5D3A1ABD}"/>
              </a:ext>
            </a:extLst>
          </p:cNvPr>
          <p:cNvSpPr>
            <a:spLocks noGrp="1"/>
          </p:cNvSpPr>
          <p:nvPr>
            <p:ph type="title"/>
          </p:nvPr>
        </p:nvSpPr>
        <p:spPr>
          <a:xfrm>
            <a:off x="489719" y="189057"/>
            <a:ext cx="11029616" cy="1188720"/>
          </a:xfrm>
        </p:spPr>
        <p:txBody>
          <a:bodyPr vert="horz" lIns="91440" tIns="45720" rIns="91440" bIns="45720" rtlCol="0" anchor="b">
            <a:normAutofit/>
          </a:bodyPr>
          <a:lstStyle/>
          <a:p>
            <a:r>
              <a:rPr lang="en-US" b="1" dirty="0"/>
              <a:t>Comparison of Models</a:t>
            </a:r>
          </a:p>
        </p:txBody>
      </p:sp>
      <p:sp>
        <p:nvSpPr>
          <p:cNvPr id="33" name="Rectangle 32">
            <a:extLst>
              <a:ext uri="{FF2B5EF4-FFF2-40B4-BE49-F238E27FC236}">
                <a16:creationId xmlns:a16="http://schemas.microsoft.com/office/drawing/2014/main" id="{970450C2-785F-4B9A-ADCF-A3081A1CF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6616FE08-2FA4-454F-8805-C2B340EE8C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AD6FD8DB-BEB0-487A-910E-E4D3E89D7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E7F0B04F-9887-478F-B1F0-5B28D467D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6"/>
            <a:ext cx="3703320"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comparison of a graph&#10;&#10;AI-generated content may be incorrect.">
            <a:extLst>
              <a:ext uri="{FF2B5EF4-FFF2-40B4-BE49-F238E27FC236}">
                <a16:creationId xmlns:a16="http://schemas.microsoft.com/office/drawing/2014/main" id="{0098C54F-DB52-5FB9-3EE7-23F3E5FEE2E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49335"/>
          <a:stretch/>
        </p:blipFill>
        <p:spPr bwMode="auto">
          <a:xfrm>
            <a:off x="489719" y="2730928"/>
            <a:ext cx="3616950" cy="2944818"/>
          </a:xfrm>
          <a:prstGeom prst="rect">
            <a:avLst/>
          </a:prstGeom>
          <a:noFill/>
          <a:extLst>
            <a:ext uri="{53640926-AAD7-44D8-BBD7-CCE9431645EC}">
              <a14:shadowObscured xmlns:a14="http://schemas.microsoft.com/office/drawing/2010/main"/>
            </a:ext>
          </a:extLst>
        </p:spPr>
      </p:pic>
      <p:sp>
        <p:nvSpPr>
          <p:cNvPr id="20" name="Content Placeholder 3">
            <a:extLst>
              <a:ext uri="{FF2B5EF4-FFF2-40B4-BE49-F238E27FC236}">
                <a16:creationId xmlns:a16="http://schemas.microsoft.com/office/drawing/2014/main" id="{367B0DD8-5205-18D2-74B8-017AF6296065}"/>
              </a:ext>
            </a:extLst>
          </p:cNvPr>
          <p:cNvSpPr>
            <a:spLocks noGrp="1"/>
          </p:cNvSpPr>
          <p:nvPr>
            <p:ph sz="half" idx="2"/>
          </p:nvPr>
        </p:nvSpPr>
        <p:spPr>
          <a:xfrm>
            <a:off x="4505326" y="1818212"/>
            <a:ext cx="6981824" cy="4407968"/>
          </a:xfrm>
        </p:spPr>
        <p:txBody>
          <a:bodyPr vert="horz" lIns="91440" tIns="45720" rIns="91440" bIns="45720" rtlCol="0" anchor="ctr">
            <a:noAutofit/>
          </a:bodyPr>
          <a:lstStyle/>
          <a:p>
            <a:pPr>
              <a:lnSpc>
                <a:spcPct val="90000"/>
              </a:lnSpc>
              <a:buFont typeface="Wingdings 2" panose="05020102010507070707" pitchFamily="18" charset="2"/>
              <a:buChar char=""/>
            </a:pPr>
            <a:r>
              <a:rPr lang="en-US" sz="1500" b="1" dirty="0"/>
              <a:t>Accuracy:</a:t>
            </a:r>
            <a:endParaRPr lang="en-US" sz="1500" dirty="0"/>
          </a:p>
          <a:p>
            <a:pPr marL="742950" lvl="1" indent="-285750">
              <a:lnSpc>
                <a:spcPct val="90000"/>
              </a:lnSpc>
            </a:pPr>
            <a:r>
              <a:rPr lang="en-US" sz="1500" dirty="0"/>
              <a:t>Baseline model average accuracy: </a:t>
            </a:r>
            <a:r>
              <a:rPr lang="en-US" sz="1500" b="1" dirty="0"/>
              <a:t>50.00%</a:t>
            </a:r>
            <a:r>
              <a:rPr lang="en-US" sz="1500" dirty="0"/>
              <a:t> (real images: 100.00%, fake images: 0.00%)</a:t>
            </a:r>
          </a:p>
          <a:p>
            <a:pPr marL="742950" lvl="1" indent="-285750">
              <a:lnSpc>
                <a:spcPct val="90000"/>
              </a:lnSpc>
            </a:pPr>
            <a:r>
              <a:rPr lang="en-US" sz="1500" dirty="0"/>
              <a:t>Augmented model average accuracy: </a:t>
            </a:r>
            <a:r>
              <a:rPr lang="en-US" sz="1500" b="1" dirty="0"/>
              <a:t>51.50%</a:t>
            </a:r>
            <a:r>
              <a:rPr lang="en-US" sz="1500" dirty="0"/>
              <a:t> (real images: 94.00%, fake images: 9.00%)</a:t>
            </a:r>
          </a:p>
          <a:p>
            <a:pPr marL="742950" lvl="1" indent="-285750">
              <a:lnSpc>
                <a:spcPct val="90000"/>
              </a:lnSpc>
            </a:pPr>
            <a:r>
              <a:rPr lang="en-US" sz="1500" dirty="0"/>
              <a:t>This represents a modest improvement of </a:t>
            </a:r>
            <a:r>
              <a:rPr lang="en-US" sz="1500" b="1" dirty="0"/>
              <a:t>1.5%</a:t>
            </a:r>
            <a:r>
              <a:rPr lang="en-US" sz="1500" dirty="0"/>
              <a:t> due to GAN-based data augmentation.</a:t>
            </a:r>
          </a:p>
          <a:p>
            <a:pPr>
              <a:lnSpc>
                <a:spcPct val="90000"/>
              </a:lnSpc>
              <a:buFont typeface="Wingdings 2" panose="05020102010507070707" pitchFamily="18" charset="2"/>
              <a:buChar char=""/>
            </a:pPr>
            <a:r>
              <a:rPr lang="en-US" sz="1500" b="1" dirty="0"/>
              <a:t>Precision and Recall:</a:t>
            </a:r>
            <a:endParaRPr lang="en-US" sz="1500" dirty="0"/>
          </a:p>
          <a:p>
            <a:pPr marL="742950" lvl="1" indent="-285750">
              <a:lnSpc>
                <a:spcPct val="90000"/>
              </a:lnSpc>
            </a:pPr>
            <a:r>
              <a:rPr lang="en-US" sz="1500" dirty="0"/>
              <a:t>Precision and recall improved slightly, reflecting better detection of fake images with fewer false positives and negatives.</a:t>
            </a:r>
          </a:p>
          <a:p>
            <a:pPr>
              <a:lnSpc>
                <a:spcPct val="90000"/>
              </a:lnSpc>
              <a:buFont typeface="Wingdings 2" panose="05020102010507070707" pitchFamily="18" charset="2"/>
              <a:buChar char=""/>
            </a:pPr>
            <a:r>
              <a:rPr lang="en-US" sz="1500" b="1" dirty="0"/>
              <a:t>F1-Score:</a:t>
            </a:r>
            <a:endParaRPr lang="en-US" sz="1500" dirty="0"/>
          </a:p>
          <a:p>
            <a:pPr marL="742950" lvl="1" indent="-285750">
              <a:lnSpc>
                <a:spcPct val="90000"/>
              </a:lnSpc>
            </a:pPr>
            <a:r>
              <a:rPr lang="en-US" sz="1500" dirty="0"/>
              <a:t>The balance between precision and recall showed some enhancement, supporting the model's improved performance.</a:t>
            </a:r>
          </a:p>
          <a:p>
            <a:pPr>
              <a:lnSpc>
                <a:spcPct val="90000"/>
              </a:lnSpc>
              <a:buFont typeface="Wingdings 2" panose="05020102010507070707" pitchFamily="18" charset="2"/>
              <a:buChar char=""/>
            </a:pPr>
            <a:r>
              <a:rPr lang="en-US" sz="1500" b="1" dirty="0"/>
              <a:t>Robustness:</a:t>
            </a:r>
            <a:endParaRPr lang="en-US" sz="1500" dirty="0"/>
          </a:p>
          <a:p>
            <a:pPr marL="742950" lvl="1" indent="-285750">
              <a:lnSpc>
                <a:spcPct val="90000"/>
              </a:lnSpc>
            </a:pPr>
            <a:r>
              <a:rPr lang="en-US" sz="1500" dirty="0"/>
              <a:t>The augmented model showed better ability to detect fake images but limited improvement in generalizing to unseen original data.</a:t>
            </a:r>
          </a:p>
          <a:p>
            <a:pPr>
              <a:lnSpc>
                <a:spcPct val="90000"/>
              </a:lnSpc>
              <a:buFont typeface="Wingdings 2" panose="05020102010507070707" pitchFamily="18" charset="2"/>
              <a:buChar char=""/>
            </a:pPr>
            <a:r>
              <a:rPr lang="en-US" sz="1500" b="1" dirty="0"/>
              <a:t>Training Efficiency:</a:t>
            </a:r>
            <a:endParaRPr lang="en-US" sz="1500" dirty="0"/>
          </a:p>
          <a:p>
            <a:pPr marL="742950" lvl="1" indent="-285750">
              <a:lnSpc>
                <a:spcPct val="90000"/>
              </a:lnSpc>
            </a:pPr>
            <a:r>
              <a:rPr lang="en-US" sz="1500" dirty="0"/>
              <a:t>Training time increased due to more data, but this was justified by the incremental gains in detection accuracy.</a:t>
            </a:r>
          </a:p>
        </p:txBody>
      </p:sp>
    </p:spTree>
    <p:extLst>
      <p:ext uri="{BB962C8B-B14F-4D97-AF65-F5344CB8AC3E}">
        <p14:creationId xmlns:p14="http://schemas.microsoft.com/office/powerpoint/2010/main" val="17817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5102FB-5840-36D3-28A9-A2503E421EED}"/>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33">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Title 10">
            <a:extLst>
              <a:ext uri="{FF2B5EF4-FFF2-40B4-BE49-F238E27FC236}">
                <a16:creationId xmlns:a16="http://schemas.microsoft.com/office/drawing/2014/main" id="{CBE492AF-5BB6-80B3-146A-6D1547B61095}"/>
              </a:ext>
            </a:extLst>
          </p:cNvPr>
          <p:cNvSpPr>
            <a:spLocks noGrp="1"/>
          </p:cNvSpPr>
          <p:nvPr>
            <p:ph type="title"/>
          </p:nvPr>
        </p:nvSpPr>
        <p:spPr>
          <a:xfrm>
            <a:off x="581192" y="702156"/>
            <a:ext cx="11029616" cy="1188720"/>
          </a:xfrm>
        </p:spPr>
        <p:txBody>
          <a:bodyPr vert="horz" lIns="91440" tIns="45720" rIns="91440" bIns="45720" rtlCol="0" anchor="b">
            <a:normAutofit/>
          </a:bodyPr>
          <a:lstStyle/>
          <a:p>
            <a:r>
              <a:rPr lang="en-US" b="1" kern="1200" cap="all" dirty="0">
                <a:solidFill>
                  <a:schemeClr val="tx1">
                    <a:lumMod val="75000"/>
                    <a:lumOff val="25000"/>
                  </a:schemeClr>
                </a:solidFill>
                <a:latin typeface="+mj-lt"/>
                <a:ea typeface="+mj-ea"/>
                <a:cs typeface="+mj-cs"/>
              </a:rPr>
              <a:t>Analysis and Insights</a:t>
            </a:r>
          </a:p>
        </p:txBody>
      </p:sp>
      <p:sp>
        <p:nvSpPr>
          <p:cNvPr id="20" name="Content Placeholder 3">
            <a:extLst>
              <a:ext uri="{FF2B5EF4-FFF2-40B4-BE49-F238E27FC236}">
                <a16:creationId xmlns:a16="http://schemas.microsoft.com/office/drawing/2014/main" id="{E720FC9B-D24A-311F-DA76-F49CC791F8F0}"/>
              </a:ext>
            </a:extLst>
          </p:cNvPr>
          <p:cNvSpPr>
            <a:spLocks noGrp="1"/>
          </p:cNvSpPr>
          <p:nvPr>
            <p:ph sz="half" idx="2"/>
          </p:nvPr>
        </p:nvSpPr>
        <p:spPr>
          <a:xfrm>
            <a:off x="581193" y="2340864"/>
            <a:ext cx="7024758" cy="3634486"/>
          </a:xfrm>
        </p:spPr>
        <p:txBody>
          <a:bodyPr vert="horz" lIns="91440" tIns="45720" rIns="91440" bIns="45720" rtlCol="0" anchor="ctr">
            <a:normAutofit/>
          </a:bodyPr>
          <a:lstStyle/>
          <a:p>
            <a:pPr marL="285750" indent="-285750">
              <a:lnSpc>
                <a:spcPct val="90000"/>
              </a:lnSpc>
              <a:buFont typeface="Wingdings 2" panose="05020102010507070707" pitchFamily="18" charset="2"/>
              <a:buChar char=""/>
            </a:pPr>
            <a:r>
              <a:rPr lang="en-US" sz="1700" dirty="0"/>
              <a:t>The analysis of the project reveals that while data augmentation using GANs can improve the detection of forged images, the overall impact on model generalization remains limited. This suggests that simply increasing the volume of training data is not sufficient; the quality and diversity of synthetic data also play critical roles.</a:t>
            </a:r>
          </a:p>
          <a:p>
            <a:pPr marL="285750" indent="-285750">
              <a:lnSpc>
                <a:spcPct val="90000"/>
              </a:lnSpc>
              <a:buFont typeface="Wingdings 2" panose="05020102010507070707" pitchFamily="18" charset="2"/>
              <a:buChar char=""/>
            </a:pPr>
            <a:r>
              <a:rPr lang="en-US" sz="1700" dirty="0"/>
              <a:t>Additionally, user knowledge and trust significantly influence privacy preservation outcomes. Users with better awareness of data collection risks tend to be more cautious in sharing personal information, highlighting the need for education alongside technological solutions. </a:t>
            </a:r>
          </a:p>
          <a:p>
            <a:pPr marL="285750" indent="-285750">
              <a:lnSpc>
                <a:spcPct val="90000"/>
              </a:lnSpc>
              <a:buFont typeface="Wingdings 2" panose="05020102010507070707" pitchFamily="18" charset="2"/>
              <a:buChar char=""/>
            </a:pPr>
            <a:r>
              <a:rPr lang="en-US" sz="1700" dirty="0"/>
              <a:t>Trust in data handling practices and transparency by organizations are essential to maintain user confidence. The project underscores the importance of combining advanced machine learning techniques with user-centric approaches to effectively protect privacy in digital environments.</a:t>
            </a:r>
          </a:p>
        </p:txBody>
      </p:sp>
      <p:pic>
        <p:nvPicPr>
          <p:cNvPr id="3" name="Picture 2">
            <a:extLst>
              <a:ext uri="{FF2B5EF4-FFF2-40B4-BE49-F238E27FC236}">
                <a16:creationId xmlns:a16="http://schemas.microsoft.com/office/drawing/2014/main" id="{0FA0D263-9A30-295F-CD9D-C2DAB844A314}"/>
              </a:ext>
            </a:extLst>
          </p:cNvPr>
          <p:cNvPicPr>
            <a:picLocks noChangeAspect="1"/>
          </p:cNvPicPr>
          <p:nvPr/>
        </p:nvPicPr>
        <p:blipFill>
          <a:blip r:embed="rId3"/>
          <a:srcRect r="-5" b="3533"/>
          <a:stretch>
            <a:fillRect/>
          </a:stretch>
        </p:blipFill>
        <p:spPr>
          <a:xfrm>
            <a:off x="8051799" y="2340864"/>
            <a:ext cx="3683001" cy="3634486"/>
          </a:xfrm>
          <a:prstGeom prst="rect">
            <a:avLst/>
          </a:prstGeom>
        </p:spPr>
      </p:pic>
    </p:spTree>
    <p:extLst>
      <p:ext uri="{BB962C8B-B14F-4D97-AF65-F5344CB8AC3E}">
        <p14:creationId xmlns:p14="http://schemas.microsoft.com/office/powerpoint/2010/main" val="1796025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2B662-7CC7-A0B9-5826-D6D284560F9D}"/>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EB81180C-8853-8ACD-0D9C-2C4C6EAEF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33">
            <a:extLst>
              <a:ext uri="{FF2B5EF4-FFF2-40B4-BE49-F238E27FC236}">
                <a16:creationId xmlns:a16="http://schemas.microsoft.com/office/drawing/2014/main" id="{B8299885-BD2E-367C-B4BA-FB3AC83F4A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62CE944D-42FD-EE04-56B9-19D94F1F0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Title 10">
            <a:extLst>
              <a:ext uri="{FF2B5EF4-FFF2-40B4-BE49-F238E27FC236}">
                <a16:creationId xmlns:a16="http://schemas.microsoft.com/office/drawing/2014/main" id="{71F6A16F-2C46-A474-8017-A43D803B1FC4}"/>
              </a:ext>
            </a:extLst>
          </p:cNvPr>
          <p:cNvSpPr>
            <a:spLocks noGrp="1"/>
          </p:cNvSpPr>
          <p:nvPr>
            <p:ph type="title"/>
          </p:nvPr>
        </p:nvSpPr>
        <p:spPr>
          <a:xfrm>
            <a:off x="581192" y="702156"/>
            <a:ext cx="11029616" cy="1188720"/>
          </a:xfrm>
        </p:spPr>
        <p:txBody>
          <a:bodyPr vert="horz" lIns="91440" tIns="45720" rIns="91440" bIns="45720" rtlCol="0" anchor="b">
            <a:normAutofit/>
          </a:bodyPr>
          <a:lstStyle/>
          <a:p>
            <a:pPr>
              <a:buNone/>
            </a:pPr>
            <a:r>
              <a:rPr lang="en-US" sz="2800" b="1" dirty="0"/>
              <a:t>Conclusion</a:t>
            </a:r>
            <a:endParaRPr lang="en-US" sz="2800" dirty="0"/>
          </a:p>
        </p:txBody>
      </p:sp>
      <p:sp>
        <p:nvSpPr>
          <p:cNvPr id="20" name="Content Placeholder 3">
            <a:extLst>
              <a:ext uri="{FF2B5EF4-FFF2-40B4-BE49-F238E27FC236}">
                <a16:creationId xmlns:a16="http://schemas.microsoft.com/office/drawing/2014/main" id="{61F92B6E-854C-B61D-6FBC-41653A2A5DBC}"/>
              </a:ext>
            </a:extLst>
          </p:cNvPr>
          <p:cNvSpPr>
            <a:spLocks noGrp="1"/>
          </p:cNvSpPr>
          <p:nvPr>
            <p:ph sz="half" idx="2"/>
          </p:nvPr>
        </p:nvSpPr>
        <p:spPr>
          <a:xfrm>
            <a:off x="581192" y="2160270"/>
            <a:ext cx="10654497" cy="3365092"/>
          </a:xfrm>
        </p:spPr>
        <p:txBody>
          <a:bodyPr vert="horz" lIns="91440" tIns="45720" rIns="91440" bIns="45720" rtlCol="0" anchor="ctr">
            <a:normAutofit/>
          </a:bodyPr>
          <a:lstStyle/>
          <a:p>
            <a:r>
              <a:rPr lang="en-US" sz="1700" dirty="0"/>
              <a:t>This project demonstrates the potential of machine learning, particularly Convolutional Neural Networks combined with data augmentation techniques like GANs, to enhance privacy preservation by detecting image forgeries. Although the augmented model showed only modest improvements in accuracy, it highlighted the importance of data quality and diversity in training robust models.</a:t>
            </a:r>
          </a:p>
          <a:p>
            <a:r>
              <a:rPr lang="en-US" sz="1700" b="1" dirty="0"/>
              <a:t>Technical Achievement</a:t>
            </a:r>
            <a:r>
              <a:rPr lang="en-US" sz="1700" dirty="0"/>
              <a:t>: The proposed CNN model, utilizing Error Level Analysis (ELA) and GAN-based data augmentation, achieves a modest 1.5% accuracy improvement (51.5% vs. 50%) in detecting image forgeries, demonstrating potential for identifying tampering in dataset like CASIA v2.</a:t>
            </a:r>
          </a:p>
          <a:p>
            <a:r>
              <a:rPr lang="en-US" sz="1700" dirty="0"/>
              <a:t> Furthermore, the project emphasizes that technological advances must be complemented by raising user awareness and building trust to achieve effective privacy protection. Moving forward, integrating more sophisticated models and exploring additional privacy-preserving techniques will be crucial for addressing the evolving challenges in data security and privacy.</a:t>
            </a:r>
          </a:p>
        </p:txBody>
      </p:sp>
    </p:spTree>
    <p:extLst>
      <p:ext uri="{BB962C8B-B14F-4D97-AF65-F5344CB8AC3E}">
        <p14:creationId xmlns:p14="http://schemas.microsoft.com/office/powerpoint/2010/main" val="3761242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2FD69B-E56F-E19C-7CC5-EFA3D8DD3902}"/>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9F5352FB-0404-B4A6-44A6-848FA0DBB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33">
            <a:extLst>
              <a:ext uri="{FF2B5EF4-FFF2-40B4-BE49-F238E27FC236}">
                <a16:creationId xmlns:a16="http://schemas.microsoft.com/office/drawing/2014/main" id="{E7D881E5-0BA1-C01B-5344-7A8397F85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EF251DA6-D2B6-C63E-350F-8FE081952A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Title 10">
            <a:extLst>
              <a:ext uri="{FF2B5EF4-FFF2-40B4-BE49-F238E27FC236}">
                <a16:creationId xmlns:a16="http://schemas.microsoft.com/office/drawing/2014/main" id="{118E442B-D6D2-5A1A-1716-9FF8F52205AE}"/>
              </a:ext>
            </a:extLst>
          </p:cNvPr>
          <p:cNvSpPr>
            <a:spLocks noGrp="1"/>
          </p:cNvSpPr>
          <p:nvPr>
            <p:ph type="title"/>
          </p:nvPr>
        </p:nvSpPr>
        <p:spPr>
          <a:xfrm>
            <a:off x="1758284" y="774043"/>
            <a:ext cx="2939248" cy="558238"/>
          </a:xfrm>
        </p:spPr>
        <p:txBody>
          <a:bodyPr vert="horz" lIns="91440" tIns="45720" rIns="91440" bIns="45720" rtlCol="0" anchor="b">
            <a:normAutofit/>
          </a:bodyPr>
          <a:lstStyle/>
          <a:p>
            <a:pPr>
              <a:buNone/>
            </a:pPr>
            <a:r>
              <a:rPr lang="en-US" sz="2800" b="1" dirty="0"/>
              <a:t>References</a:t>
            </a:r>
            <a:endParaRPr lang="en-US" sz="2800" dirty="0"/>
          </a:p>
        </p:txBody>
      </p:sp>
      <p:sp>
        <p:nvSpPr>
          <p:cNvPr id="20" name="Content Placeholder 3">
            <a:extLst>
              <a:ext uri="{FF2B5EF4-FFF2-40B4-BE49-F238E27FC236}">
                <a16:creationId xmlns:a16="http://schemas.microsoft.com/office/drawing/2014/main" id="{DEBBB6E9-AE63-302E-EED5-22CE98EA3E75}"/>
              </a:ext>
            </a:extLst>
          </p:cNvPr>
          <p:cNvSpPr>
            <a:spLocks noGrp="1"/>
          </p:cNvSpPr>
          <p:nvPr>
            <p:ph sz="half" idx="2"/>
          </p:nvPr>
        </p:nvSpPr>
        <p:spPr>
          <a:xfrm>
            <a:off x="581192" y="1435508"/>
            <a:ext cx="10780228" cy="5296762"/>
          </a:xfrm>
        </p:spPr>
        <p:txBody>
          <a:bodyPr vert="horz" lIns="91440" tIns="45720" rIns="91440" bIns="45720" rtlCol="0" anchor="ctr">
            <a:normAutofit fontScale="85000" lnSpcReduction="10000"/>
          </a:bodyPr>
          <a:lstStyle/>
          <a:p>
            <a:pPr algn="just">
              <a:lnSpc>
                <a:spcPct val="150000"/>
              </a:lnSpc>
              <a:spcAft>
                <a:spcPts val="800"/>
              </a:spcAf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1) Van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Ooijen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I. &amp; Vrabec, HU. (2019). Does the GDPR enhance consumers' control over personal data? An analysis from a behavioural perspective. Journal of Consumer Policy, 42, p. 91-107. doi:10.1007/s10603-018-9399-7</a:t>
            </a:r>
          </a:p>
          <a:p>
            <a:pPr algn="just">
              <a:lnSpc>
                <a:spcPct val="150000"/>
              </a:lnSpc>
              <a:spcAft>
                <a:spcPts val="800"/>
              </a:spcAft>
              <a:buNone/>
            </a:pPr>
            <a:r>
              <a:rPr lang="en-IN" kern="100" dirty="0">
                <a:latin typeface="Times New Roman" panose="02020603050405020304" pitchFamily="18" charset="0"/>
                <a:ea typeface="Aptos" panose="020B0004020202020204" pitchFamily="34" charset="0"/>
                <a:cs typeface="Times New Roman" panose="02020603050405020304" pitchFamily="18" charset="0"/>
              </a:rPr>
              <a:t>2) </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Casadesus-</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Masanell</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R. &amp; Hervas-Drane, A. (2015). Competing with privacy. Management Science, 61(1)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10.1287/mnsc.2014.2023</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IN" kern="100" dirty="0">
                <a:latin typeface="Times New Roman" panose="02020603050405020304" pitchFamily="18" charset="0"/>
                <a:ea typeface="Aptos" panose="020B0004020202020204" pitchFamily="34" charset="0"/>
                <a:cs typeface="Times New Roman" panose="02020603050405020304" pitchFamily="18" charset="0"/>
              </a:rPr>
              <a:t>3)</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Brill, M.T., Munoz, L. &amp; Miller J.R. (2019). Siri, Alexa, and other digital assistants: a study of customer satisfaction with artificial intelligence applications. Journal of Marketing Management, 35(15–16), pp. 1401–1436. doi:10.1080/0267257X.2019.1687571</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IN" kern="100" dirty="0">
                <a:latin typeface="Times New Roman" panose="02020603050405020304" pitchFamily="18" charset="0"/>
                <a:ea typeface="Aptos" panose="020B0004020202020204" pitchFamily="34" charset="0"/>
                <a:cs typeface="Times New Roman" panose="02020603050405020304" pitchFamily="18" charset="0"/>
              </a:rPr>
              <a:t>4)</a:t>
            </a:r>
            <a:r>
              <a:rPr lang="en-IN"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European Commission. (2022). Protection of personal data and privacy on the Internet. https://europa.eu/youreurope/citizens/consumers/internet-telecoms/data-protection-online-privacy/index_sv.htm [Retrieved 2023-10-11].</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IN" kern="100" dirty="0">
                <a:latin typeface="Times New Roman" panose="02020603050405020304" pitchFamily="18" charset="0"/>
                <a:ea typeface="Aptos" panose="020B0004020202020204" pitchFamily="34" charset="0"/>
                <a:cs typeface="Times New Roman" panose="02020603050405020304" pitchFamily="18" charset="0"/>
              </a:rPr>
              <a:t>5)</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Bornschein, R., Schmidt, L. &amp; Maier, E. (2020). The impact of consumers' perceived power and risk in digital information privacy: The example of cookie notifications. Journal of Public Policy &amp; Marketing, 39(2), pp. 135–154.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10.1177/0743915620902143</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Aptos" panose="020B0004020202020204" pitchFamily="34" charset="0"/>
                <a:cs typeface="Times New Roman" panose="02020603050405020304" pitchFamily="18" charset="0"/>
              </a:rPr>
              <a:t>6)</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Spiekermann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S.,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Acquisti</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 Böhme, R. &amp; Hui, K.L. (2015). The challenges of personal data markets and privacy. Electron Markets, 25, p. 161–167. doi:10.1007/s12525-015-0191-0</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2EBEFE18-8877-515C-12D6-716F2C9A2ECF}"/>
              </a:ext>
            </a:extLst>
          </p:cNvPr>
          <p:cNvPicPr>
            <a:picLocks noChangeAspect="1"/>
          </p:cNvPicPr>
          <p:nvPr/>
        </p:nvPicPr>
        <p:blipFill>
          <a:blip r:embed="rId3"/>
          <a:stretch>
            <a:fillRect/>
          </a:stretch>
        </p:blipFill>
        <p:spPr>
          <a:xfrm rot="10800000" flipV="1">
            <a:off x="830580" y="705943"/>
            <a:ext cx="803910" cy="686204"/>
          </a:xfrm>
          <a:prstGeom prst="rect">
            <a:avLst/>
          </a:prstGeom>
        </p:spPr>
      </p:pic>
    </p:spTree>
    <p:extLst>
      <p:ext uri="{BB962C8B-B14F-4D97-AF65-F5344CB8AC3E}">
        <p14:creationId xmlns:p14="http://schemas.microsoft.com/office/powerpoint/2010/main" val="141733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903843E-1FAB-AFBB-BDC9-440FCC8CFB12}"/>
              </a:ext>
            </a:extLst>
          </p:cNvPr>
          <p:cNvSpPr>
            <a:spLocks noGrp="1"/>
          </p:cNvSpPr>
          <p:nvPr>
            <p:ph type="ctrTitle"/>
          </p:nvPr>
        </p:nvSpPr>
        <p:spPr>
          <a:xfrm>
            <a:off x="1524000" y="2879090"/>
            <a:ext cx="9144000" cy="1099820"/>
          </a:xfrm>
          <a:noFill/>
        </p:spPr>
        <p:txBody>
          <a:bodyPr/>
          <a:lstStyle/>
          <a:p>
            <a:r>
              <a:rPr lang="en-US" sz="6500" dirty="0"/>
              <a:t>THANK YOU</a:t>
            </a:r>
          </a:p>
        </p:txBody>
      </p:sp>
    </p:spTree>
    <p:extLst>
      <p:ext uri="{BB962C8B-B14F-4D97-AF65-F5344CB8AC3E}">
        <p14:creationId xmlns:p14="http://schemas.microsoft.com/office/powerpoint/2010/main" val="435195399"/>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00B2AC-C335-4100-B8B3-2D9F49A729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1F84C-D1FD-4B1B-9CFD-8E0D96AC4DF2}">
  <ds:schemaRefs>
    <ds:schemaRef ds:uri="http://schemas.microsoft.com/sharepoint/v3/contenttype/forms"/>
  </ds:schemaRefs>
</ds:datastoreItem>
</file>

<file path=customXml/itemProps3.xml><?xml version="1.0" encoding="utf-8"?>
<ds:datastoreItem xmlns:ds="http://schemas.openxmlformats.org/officeDocument/2006/customXml" ds:itemID="{0037C456-A6DA-4DEE-A3FB-4EC3058FD0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Dividend design</Template>
  <TotalTime>385</TotalTime>
  <Words>3017</Words>
  <Application>Microsoft Office PowerPoint</Application>
  <PresentationFormat>Widescreen</PresentationFormat>
  <Paragraphs>164</Paragraphs>
  <Slides>20</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Gill Sans MT</vt:lpstr>
      <vt:lpstr>Neue Haas Grotesk Text Pro</vt:lpstr>
      <vt:lpstr>Times New Roman</vt:lpstr>
      <vt:lpstr>Wingdings 2</vt:lpstr>
      <vt:lpstr>DividendVTI</vt:lpstr>
      <vt:lpstr>Privacy Preservation Using Machine Learning</vt:lpstr>
      <vt:lpstr>Introduction</vt:lpstr>
      <vt:lpstr>Problem Statement</vt:lpstr>
      <vt:lpstr>purpose</vt:lpstr>
      <vt:lpstr>Background</vt:lpstr>
      <vt:lpstr>Knowledge</vt:lpstr>
      <vt:lpstr>TRUST</vt:lpstr>
      <vt:lpstr>Literature survey</vt:lpstr>
      <vt:lpstr>Control and Regulation</vt:lpstr>
      <vt:lpstr>Risks of data collection</vt:lpstr>
      <vt:lpstr>PowerPoint Presentation</vt:lpstr>
      <vt:lpstr>CNN Architecture</vt:lpstr>
      <vt:lpstr>Proposed Methodology</vt:lpstr>
      <vt:lpstr>Results - Baseline Model</vt:lpstr>
      <vt:lpstr>Results - Augmented Model</vt:lpstr>
      <vt:lpstr>Comparison of Models</vt:lpstr>
      <vt:lpstr>Analysis and Insights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Arjun Ajit</dc:creator>
  <cp:lastModifiedBy>Krishaansh sonya</cp:lastModifiedBy>
  <cp:revision>4</cp:revision>
  <dcterms:created xsi:type="dcterms:W3CDTF">2025-05-15T11:47:31Z</dcterms:created>
  <dcterms:modified xsi:type="dcterms:W3CDTF">2025-05-20T17:31:24Z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